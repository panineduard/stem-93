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3b3da89c-5cc4-bdab-d155-af4c9c221978}">
          <p14:sldIdLst>
            <p14:sldId id="256"/>
            <p14:sldId id="257"/>
          </p14:sldIdLst>
        </p14:section>
        <p14:section name="Теорія" id="{46a9862c-e234-10c2-3878-1b8d08c6f881}">
          <p14:sldIdLst>
            <p14:sldId id="258"/>
            <p14:sldId id="259"/>
            <p14:sldId id="260"/>
            <p14:sldId id="261"/>
          </p14:sldIdLst>
        </p14:section>
        <p14:section name="Практика" id="{4b0e0f99-c1bd-fb0c-fb51-1985640f5892}">
          <p14:sldIdLst>
            <p14:sldId id="262"/>
            <p14:sldId id="263"/>
            <p14:sldId id="264"/>
            <p14:sldId id="265"/>
          </p14:sldIdLst>
        </p14:section>
        <p14:section name="Підсумок" id="{b909531b-04db-06d2-df05-7ab9d4746696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Відкрийте урок із питання, а не з теорії. Перший звук — головна мета всього заняття. Рівні, досягнення й квиток — ігрова рамка курсу: кожен урок відкриває новий рівень пристрою.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Зберіть 2–3 малюнки й залиште їх на дошці: до них повернемося на наступному слайді з ланцюгом.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Порівняйте ланцюг із малюнками учнів з розминки. Звідки береться трек? Хто саме перетворює файл на звук?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внизу — місток до теорії UART. Дайте учням проголосувати «так / ні» перед наступним слайдом.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питання з попереднього слайда: ні, по UART ідуть лише команди й відповіді модуля. Звук формує сам DFPlayer. У скетчі на лінії D11 → RX DFPlayer стоїть резистор 1 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Скетч чекає BUSY = LOW до 1,5 с після команди. Тільки тоді він пише, що звук підтверджено, і вмикає світлодіод D13.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Працюємо тільки з перевіреним стендом. Перший пункт не обговорюється: будь-яке перепідключення — лише на знеструмленій схемі.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Фрагмент праворуч — справжні рядки зі скетчу уроку. Попросіть учнів знайти їх у файлі та пояснити, навіщо кожен.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Кожна команда заповнює таблицю окремо. Три стовпчики — три незалежні факти; жоден не замінює інший.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дозволяйте міняти кілька речей одночасно: інакше незрозуміло, що саме допомогло.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Святкуємо, але одразу вимагаємо доказ: Serial Monitor, BUSY = LOW і звук у динаміку.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Кожне питання — окремий урок курсу. Модулі RTC, дисплея й реле ще не обрані: це рішення команда ухвалить пізніше.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Квиток — 3 хвилини наприкінці. Відповіді на питання 1–2 показують, чи зрозуміли учні різницю між командою й доказом.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STEM-93 · РІВЕНЬ 01 · АУДІОЛАБ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091672" y="6236208"/>
            <a:ext cx="548640" cy="4114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_DARK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STEM-93 · РІВЕНЬ 01 · АУДІОЛАБ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091672" y="6236208"/>
            <a:ext cx="548640" cy="41148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_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758952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6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_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STEM-93 · РІВЕНЬ 01 · АУДІОЛАБ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97280" y="2057400"/>
            <a:ext cx="9994392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80000">
            <a:off x="731520" y="868680"/>
            <a:ext cx="4394200" cy="42062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РІВЕНЬ 01 · АУДІОЛАБ STEM-93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600200"/>
            <a:ext cx="7589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ЗМУСЬ МАШИНУ ГОВОРИТИ</a:t>
            </a:r>
            <a:endParaRPr lang="en-US" sz="6000" dirty="0"/>
          </a:p>
        </p:txBody>
      </p:sp>
      <p:sp>
        <p:nvSpPr>
          <p:cNvPr id="4" name="Mission"/>
          <p:cNvSpPr/>
          <p:nvPr/>
        </p:nvSpPr>
        <p:spPr>
          <a:xfrm>
            <a:off x="731520" y="4617720"/>
            <a:ext cx="676656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МІСІЯ: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дає команду, а ми чуємо перший звук.</a:t>
            </a:r>
            <a:endParaRPr lang="en-US" sz="2000" dirty="0"/>
          </a:p>
        </p:txBody>
      </p:sp>
      <p:sp>
        <p:nvSpPr>
          <p:cNvPr id="5" name="Equalizer 1"/>
          <p:cNvSpPr/>
          <p:nvPr/>
        </p:nvSpPr>
        <p:spPr>
          <a:xfrm>
            <a:off x="8595360" y="4663440"/>
            <a:ext cx="274320" cy="1097280"/>
          </a:xfrm>
          <a:prstGeom prst="rect">
            <a:avLst/>
          </a:prstGeom>
          <a:solidFill>
            <a:schemeClr val="tx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6" name="Equalizer 2"/>
          <p:cNvSpPr/>
          <p:nvPr/>
        </p:nvSpPr>
        <p:spPr>
          <a:xfrm>
            <a:off x="8979408" y="3566160"/>
            <a:ext cx="274320" cy="2194560"/>
          </a:xfrm>
          <a:prstGeom prst="rect">
            <a:avLst/>
          </a:prstGeom>
          <a:solidFill>
            <a:schemeClr val="accent2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7" name="Equalizer 3"/>
          <p:cNvSpPr/>
          <p:nvPr/>
        </p:nvSpPr>
        <p:spPr>
          <a:xfrm>
            <a:off x="9363456" y="2468880"/>
            <a:ext cx="274320" cy="3291840"/>
          </a:xfrm>
          <a:prstGeom prst="rect">
            <a:avLst/>
          </a:prstGeom>
          <a:solidFill>
            <a:schemeClr val="tx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8" name="Equalizer 4"/>
          <p:cNvSpPr/>
          <p:nvPr/>
        </p:nvSpPr>
        <p:spPr>
          <a:xfrm>
            <a:off x="9747504" y="4114800"/>
            <a:ext cx="274320" cy="164592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9" name="Equalizer 5"/>
          <p:cNvSpPr/>
          <p:nvPr/>
        </p:nvSpPr>
        <p:spPr>
          <a:xfrm>
            <a:off x="10131552" y="3017520"/>
            <a:ext cx="274320" cy="2743200"/>
          </a:xfrm>
          <a:prstGeom prst="rect">
            <a:avLst/>
          </a:prstGeom>
          <a:solidFill>
            <a:schemeClr val="tx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10" name="Equalizer 6"/>
          <p:cNvSpPr/>
          <p:nvPr/>
        </p:nvSpPr>
        <p:spPr>
          <a:xfrm>
            <a:off x="10515600" y="4389120"/>
            <a:ext cx="274320" cy="1371600"/>
          </a:xfrm>
          <a:prstGeom prst="rect">
            <a:avLst/>
          </a:prstGeom>
          <a:solidFill>
            <a:schemeClr val="accent2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11" name="Equalizer 7"/>
          <p:cNvSpPr/>
          <p:nvPr/>
        </p:nvSpPr>
        <p:spPr>
          <a:xfrm>
            <a:off x="10899648" y="3749040"/>
            <a:ext cx="274320" cy="2011680"/>
          </a:xfrm>
          <a:prstGeom prst="rect">
            <a:avLst/>
          </a:prstGeom>
          <a:solidFill>
            <a:schemeClr val="tx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  <p:sp>
        <p:nvSpPr>
          <p:cNvPr id="12" name="Equalizer 8"/>
          <p:cNvSpPr/>
          <p:nvPr/>
        </p:nvSpPr>
        <p:spPr>
          <a:xfrm>
            <a:off x="11283696" y="4937760"/>
            <a:ext cx="274320" cy="82296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284988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РОЗМИНКА · 3 ХВИЛИНИ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Що потрібно машині, щоб видати звук?</a:t>
            </a:r>
            <a:endParaRPr lang="en-US" sz="3600" dirty="0"/>
          </a:p>
        </p:txBody>
      </p:sp>
      <p:sp>
        <p:nvSpPr>
          <p:cNvPr id="4" name="Big question mark"/>
          <p:cNvSpPr txBox="1"/>
          <p:nvPr/>
        </p:nvSpPr>
        <p:spPr>
          <a:xfrm rot="480000">
            <a:off x="8778240" y="1417320"/>
            <a:ext cx="2834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32000" dirty="0"/>
          </a:p>
        </p:txBody>
      </p:sp>
      <p:sp>
        <p:nvSpPr>
          <p:cNvPr id="5" name="Task bubble"/>
          <p:cNvSpPr/>
          <p:nvPr/>
        </p:nvSpPr>
        <p:spPr>
          <a:xfrm>
            <a:off x="548640" y="2148840"/>
            <a:ext cx="7589520" cy="14630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56032" tIns="256032" rIns="256032" bIns="256032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Намалюйте шлях від команди до ваших вух.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Помилятися можна: за хвилину порівняємо версії.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-120000">
            <a:off x="548640" y="4434840"/>
            <a:ext cx="1463040" cy="82296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</a:t>
            </a:r>
            <a:endParaRPr lang="en-US" sz="1500" dirty="0"/>
          </a:p>
        </p:txBody>
      </p:sp>
      <p:sp>
        <p:nvSpPr>
          <p:cNvPr id="7" name="Arrow"/>
          <p:cNvSpPr/>
          <p:nvPr/>
        </p:nvSpPr>
        <p:spPr>
          <a:xfrm>
            <a:off x="2121408" y="4663440"/>
            <a:ext cx="411480" cy="36576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20000">
            <a:off x="2606040" y="4434840"/>
            <a:ext cx="1463040" cy="8229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800" dirty="0"/>
          </a:p>
        </p:txBody>
      </p:sp>
      <p:sp>
        <p:nvSpPr>
          <p:cNvPr id="9" name="Arrow"/>
          <p:cNvSpPr/>
          <p:nvPr/>
        </p:nvSpPr>
        <p:spPr>
          <a:xfrm>
            <a:off x="4178808" y="4663440"/>
            <a:ext cx="411480" cy="36576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-120000">
            <a:off x="4663440" y="4434840"/>
            <a:ext cx="1463040" cy="8229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800" dirty="0"/>
          </a:p>
        </p:txBody>
      </p:sp>
      <p:sp>
        <p:nvSpPr>
          <p:cNvPr id="11" name="Arrow"/>
          <p:cNvSpPr/>
          <p:nvPr/>
        </p:nvSpPr>
        <p:spPr>
          <a:xfrm>
            <a:off x="6236208" y="4663440"/>
            <a:ext cx="411480" cy="36576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20000">
            <a:off x="6720840" y="4434840"/>
            <a:ext cx="1463040" cy="82296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ВУХА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272796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СЬОГОДНІШНІЙ ЛАНЦЮГ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Від команди до звуку</a:t>
            </a:r>
            <a:endParaRPr lang="en-US" sz="3600" dirty="0"/>
          </a:p>
        </p:txBody>
      </p:sp>
      <p:sp>
        <p:nvSpPr>
          <p:cNvPr id="4" name="Chain 1"/>
          <p:cNvSpPr/>
          <p:nvPr/>
        </p:nvSpPr>
        <p:spPr>
          <a:xfrm rot="-120000">
            <a:off x="548640" y="2194560"/>
            <a:ext cx="2240280" cy="196596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01168" tIns="201168" rIns="201168" bIns="20116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ARDUINO UNO</a:t>
            </a:r>
            <a:endParaRPr lang="en-US" sz="1600" dirty="0"/>
          </a:p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надсилає команду «грай трек 1»</a:t>
            </a:r>
            <a:endParaRPr lang="en-US" sz="1600" dirty="0"/>
          </a:p>
        </p:txBody>
      </p:sp>
      <p:sp>
        <p:nvSpPr>
          <p:cNvPr id="5" name="Arrow"/>
          <p:cNvSpPr/>
          <p:nvPr/>
        </p:nvSpPr>
        <p:spPr>
          <a:xfrm>
            <a:off x="2926080" y="3017520"/>
            <a:ext cx="411480" cy="36576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hain 2"/>
          <p:cNvSpPr/>
          <p:nvPr/>
        </p:nvSpPr>
        <p:spPr>
          <a:xfrm rot="90000">
            <a:off x="3474720" y="2194560"/>
            <a:ext cx="2240280" cy="196596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01168" tIns="201168" rIns="201168" bIns="20116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DFPLAYER MINI</a:t>
            </a:r>
            <a:endParaRPr lang="en-US" sz="1600" dirty="0"/>
          </a:p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знаходить MP3 на microSD і декодує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5852160" y="3017520"/>
            <a:ext cx="411480" cy="36576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hain 3"/>
          <p:cNvSpPr/>
          <p:nvPr/>
        </p:nvSpPr>
        <p:spPr>
          <a:xfrm rot="-90000">
            <a:off x="6400800" y="2194560"/>
            <a:ext cx="2240280" cy="1965960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01168" tIns="201168" rIns="201168" bIns="20116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ДИНАМІК</a:t>
            </a:r>
            <a:endParaRPr lang="en-US" sz="1600" dirty="0"/>
          </a:p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перетворює сигнал на коливання повітря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8778240" y="3017520"/>
            <a:ext cx="411480" cy="365760"/>
          </a:xfrm>
          <a:prstGeom prst="rightArrow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hain 4"/>
          <p:cNvSpPr/>
          <p:nvPr/>
        </p:nvSpPr>
        <p:spPr>
          <a:xfrm rot="120000">
            <a:off x="9326880" y="2194560"/>
            <a:ext cx="2240280" cy="196596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FF2D55">
                <a:alpha val="100000"/>
              </a:srgbClr>
            </a:outerShdw>
          </a:effectLst>
        </p:spPr>
        <p:txBody>
          <a:bodyPr wrap="square" lIns="201168" tIns="201168" rIns="201168" bIns="20116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ЗВУК 🎉</a:t>
            </a:r>
            <a:endParaRPr lang="en-US" sz="1600" dirty="0"/>
          </a:p>
          <a:p>
            <a:pPr algn="l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доказ, що весь ланцюг спрацював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Сьогодні тільки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highlight>
                  <a:srgbClr val="F5F5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ручний запуск одного треку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Розклад і точний час будуть на наступних рівнях.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333756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ЗНАЙОМТЕСЯ: НАША КОМАНДА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Хто за що відповідає?</a:t>
            </a:r>
            <a:endParaRPr lang="en-US" sz="3600" dirty="0"/>
          </a:p>
        </p:txBody>
      </p:sp>
      <p:sp>
        <p:nvSpPr>
          <p:cNvPr id="4" name="Role card 1"/>
          <p:cNvSpPr/>
          <p:nvPr/>
        </p:nvSpPr>
        <p:spPr>
          <a:xfrm>
            <a:off x="548640" y="2103120"/>
            <a:ext cx="5394960" cy="1325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60120" cy="960120"/>
          </a:xfrm>
          <a:prstGeom prst="rect">
            <a:avLst/>
          </a:prstGeom>
          <a:solidFill>
            <a:schemeClr val="accent2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304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ARDUINO UNO · МОЗОК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Виконує програму й надсилає команди.</a:t>
            </a:r>
            <a:endParaRPr lang="en-US" sz="1500" dirty="0"/>
          </a:p>
        </p:txBody>
      </p:sp>
      <p:sp>
        <p:nvSpPr>
          <p:cNvPr id="7" name="Role card 2"/>
          <p:cNvSpPr/>
          <p:nvPr/>
        </p:nvSpPr>
        <p:spPr>
          <a:xfrm>
            <a:off x="6217920" y="2103120"/>
            <a:ext cx="5394960" cy="1325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960120" cy="960120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MP3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304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DFPLAYER MINI · DJ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Шукає трек, декодує MP3, видає аудіосигнал.</a:t>
            </a:r>
            <a:endParaRPr lang="en-US" sz="1500" dirty="0"/>
          </a:p>
        </p:txBody>
      </p:sp>
      <p:sp>
        <p:nvSpPr>
          <p:cNvPr id="10" name="Role card 3"/>
          <p:cNvSpPr/>
          <p:nvPr/>
        </p:nvSpPr>
        <p:spPr>
          <a:xfrm>
            <a:off x="548640" y="3703320"/>
            <a:ext cx="5394960" cy="1325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960120" cy="960120"/>
          </a:xfrm>
          <a:prstGeom prst="rect">
            <a:avLst/>
          </a:prstGeom>
          <a:solidFill>
            <a:schemeClr val="accent4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9044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MICROSD · ФОНОТЕКА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Зберігає аудіофайли.</a:t>
            </a:r>
            <a:endParaRPr lang="en-US" sz="1500" dirty="0"/>
          </a:p>
        </p:txBody>
      </p:sp>
      <p:sp>
        <p:nvSpPr>
          <p:cNvPr id="13" name="Role card 4"/>
          <p:cNvSpPr/>
          <p:nvPr/>
        </p:nvSpPr>
        <p:spPr>
          <a:xfrm>
            <a:off x="6217920" y="3703320"/>
            <a:ext cx="5394960" cy="1325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886200"/>
            <a:ext cx="960120" cy="960120"/>
          </a:xfrm>
          <a:prstGeom prst="rect">
            <a:avLst/>
          </a:prstGeom>
          <a:solidFill>
            <a:schemeClr val="tx1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9044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ДИНАМІК · ГОЛОС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Перетворює сигнал на звук.</a:t>
            </a:r>
            <a:endParaRPr lang="en-US" sz="1500" dirty="0"/>
          </a:p>
        </p:txBody>
      </p:sp>
      <p:sp>
        <p:nvSpPr>
          <p:cNvPr id="16" name="Sticker"/>
          <p:cNvSpPr/>
          <p:nvPr/>
        </p:nvSpPr>
        <p:spPr>
          <a:xfrm rot="-60000">
            <a:off x="548640" y="5349240"/>
            <a:ext cx="5981700" cy="56692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🤔 Чи надсилає Arduino саму музику по UART?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1630680" cy="42062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ТЕОРІЯ · 1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UART — розмова двох плат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Дані йдуть послідовно, біт за бітом.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Лінії перехресні: TX одного → RX іншого.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слухає на D10 (RX), говорить через D11 (TX).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Обидві плати домовляються про швидкість: 9600 бод.</a:t>
            </a:r>
            <a:endParaRPr lang="en-US" sz="1700" dirty="0"/>
          </a:p>
        </p:txBody>
      </p:sp>
      <p:sp>
        <p:nvSpPr>
          <p:cNvPr id="5" name="Key idea"/>
          <p:cNvSpPr/>
          <p:nvPr/>
        </p:nvSpPr>
        <p:spPr>
          <a:xfrm>
            <a:off x="548640" y="4572000"/>
            <a:ext cx="5852160" cy="1325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highlight>
                  <a:srgbClr val="F5F5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 везе команди й відповіді, а не музику.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Звук іде окремо: з аудіовиходу DFPlayer у динамік.</a:t>
            </a:r>
            <a:endParaRPr lang="en-US" sz="1500" dirty="0"/>
          </a:p>
        </p:txBody>
      </p:sp>
      <p:sp>
        <p:nvSpPr>
          <p:cNvPr id="6" name="Arduino box"/>
          <p:cNvSpPr/>
          <p:nvPr/>
        </p:nvSpPr>
        <p:spPr>
          <a:xfrm>
            <a:off x="6949440" y="2148840"/>
            <a:ext cx="1828800" cy="329184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37160" tIns="137160" rIns="137160" bIns="13716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ARDUINO UNO</a:t>
            </a:r>
            <a:endParaRPr lang="en-US" sz="1400" dirty="0"/>
          </a:p>
        </p:txBody>
      </p:sp>
      <p:sp>
        <p:nvSpPr>
          <p:cNvPr id="7" name="DFPlayer box"/>
          <p:cNvSpPr/>
          <p:nvPr/>
        </p:nvSpPr>
        <p:spPr>
          <a:xfrm>
            <a:off x="9692640" y="2148840"/>
            <a:ext cx="1828800" cy="329184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37160" tIns="137160" rIns="137160" bIns="13716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DFPLAYER MINI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D11 · TX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 · RX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</a:t>
            </a:r>
            <a:endParaRPr lang="en-US" sz="1400" dirty="0"/>
          </a:p>
        </p:txBody>
      </p:sp>
      <p:sp>
        <p:nvSpPr>
          <p:cNvPr id="12" name="TX to RX"/>
          <p:cNvSpPr/>
          <p:nvPr/>
        </p:nvSpPr>
        <p:spPr>
          <a:xfrm>
            <a:off x="8778240" y="3172968"/>
            <a:ext cx="914400" cy="1188720"/>
          </a:xfrm>
          <a:prstGeom prst="line">
            <a:avLst/>
          </a:prstGeom>
          <a:noFill/>
          <a:ln w="508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3" name="RX from TX"/>
          <p:cNvSpPr/>
          <p:nvPr/>
        </p:nvSpPr>
        <p:spPr>
          <a:xfrm flipH="1">
            <a:off x="8778240" y="3172968"/>
            <a:ext cx="914400" cy="118872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94944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спільний GND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1630680" cy="420624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ТЕОРІЯ · 2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play(1) — прохання, а не доказ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 лише просить запустити трек. Чи він справді грає, доводимо трьома рівнями:</a:t>
            </a:r>
            <a:endParaRPr lang="en-US" sz="1700" dirty="0"/>
          </a:p>
        </p:txBody>
      </p:sp>
      <p:sp>
        <p:nvSpPr>
          <p:cNvPr id="5" name="Proof level 1"/>
          <p:cNvSpPr/>
          <p:nvPr/>
        </p:nvSpPr>
        <p:spPr>
          <a:xfrm rot="-60000">
            <a:off x="548640" y="2697480"/>
            <a:ext cx="3474720" cy="210312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ДОКАЗУ</a:t>
            </a:r>
            <a:endParaRPr lang="en-US" sz="1600" dirty="0"/>
          </a:p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Модуль відповів на запуск.</a:t>
            </a:r>
            <a:endParaRPr lang="en-US" sz="1600" dirty="0"/>
          </a:p>
        </p:txBody>
      </p:sp>
      <p:sp>
        <p:nvSpPr>
          <p:cNvPr id="6" name="Proof level 2"/>
          <p:cNvSpPr/>
          <p:nvPr/>
        </p:nvSpPr>
        <p:spPr>
          <a:xfrm rot="60000">
            <a:off x="4343400" y="2697480"/>
            <a:ext cx="3474720" cy="2103120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ДОКАЗУ</a:t>
            </a:r>
            <a:endParaRPr lang="en-US" sz="1600" dirty="0"/>
          </a:p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Лінія BUSY → D7 стала LOW: трек грає.</a:t>
            </a:r>
            <a:endParaRPr lang="en-US" sz="1600" dirty="0"/>
          </a:p>
        </p:txBody>
      </p:sp>
      <p:sp>
        <p:nvSpPr>
          <p:cNvPr id="7" name="Proof level 3"/>
          <p:cNvSpPr/>
          <p:nvPr/>
        </p:nvSpPr>
        <p:spPr>
          <a:xfrm rot="-60000">
            <a:off x="8138160" y="2697480"/>
            <a:ext cx="3474720" cy="210312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ДОКАЗУ</a:t>
            </a:r>
            <a:endParaRPr lang="en-US" sz="1600" dirty="0"/>
          </a:p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Ми чуємо звук у динаміку.</a:t>
            </a:r>
            <a:endParaRPr lang="en-US" sz="1600" dirty="0"/>
          </a:p>
        </p:txBody>
      </p:sp>
      <p:sp>
        <p:nvSpPr>
          <p:cNvPr id="8" name="Sticker"/>
          <p:cNvSpPr/>
          <p:nvPr/>
        </p:nvSpPr>
        <p:spPr>
          <a:xfrm rot="-60000">
            <a:off x="548640" y="5257800"/>
            <a:ext cx="5074920" cy="566928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🕵 Звуку немає. Що перевіриш першим?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272796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ПРАКТИКА · ЗБИРАННЯ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Збираємо без поспіху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9842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Перепідключаємо тільки знеструмлену схему.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98064"/>
            <a:ext cx="548640" cy="548640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7706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Звіряємо кожен контакт зі схемою уроку.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584448"/>
            <a:ext cx="548640" cy="548640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570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Спільний GND, а TX/RX навхрест.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370832"/>
            <a:ext cx="548640" cy="548640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43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Перед живленням напарник перевіряє стенд.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157216"/>
            <a:ext cx="548640" cy="548640"/>
          </a:xfrm>
          <a:prstGeom prst="rect">
            <a:avLst/>
          </a:prstGeom>
          <a:solidFill>
            <a:schemeClr val="accent5"/>
          </a:solidFill>
          <a:ln w="3175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12978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Сумніваєшся в компоненті чи напрузі? Стоп, кличемо викладача.</a:t>
            </a:r>
            <a:endParaRPr lang="en-US" sz="1500" dirty="0"/>
          </a:p>
        </p:txBody>
      </p:sp>
      <p:sp>
        <p:nvSpPr>
          <p:cNvPr id="14" name="Wiring frame"/>
          <p:cNvSpPr/>
          <p:nvPr/>
        </p:nvSpPr>
        <p:spPr>
          <a:xfrm>
            <a:off x="6035040" y="2011680"/>
            <a:ext cx="5577840" cy="335584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pic>
        <p:nvPicPr>
          <p:cNvPr id="15" name="Image 0" descr="Схема підключення: Arduino Uno, DFPlayer Mini, динамік і кноп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48840"/>
            <a:ext cx="5303520" cy="308152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035040" y="5577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Затверджена схема уроку · wiring.svg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199644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ДЕТЕКТИВ КОДУ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Прочитай програму до запуску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Знайди у sketch/sketch.ino:</a:t>
            </a:r>
            <a:endParaRPr lang="en-US" sz="1700" dirty="0"/>
          </a:p>
        </p:txBody>
      </p:sp>
      <p:sp>
        <p:nvSpPr>
          <p:cNvPr id="5" name="Checkbox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контакти D10, D11, D7 і кнопку D2;</a:t>
            </a:r>
            <a:endParaRPr lang="en-US" sz="1500" dirty="0"/>
          </a:p>
        </p:txBody>
      </p:sp>
      <p:sp>
        <p:nvSpPr>
          <p:cNvPr id="7" name="Checkbox"/>
          <p:cNvSpPr/>
          <p:nvPr/>
        </p:nvSpPr>
        <p:spPr>
          <a:xfrm>
            <a:off x="548640" y="3264408"/>
            <a:ext cx="347472" cy="34747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 стартує зв'язок із DFPlayer;</a:t>
            </a:r>
            <a:endParaRPr lang="en-US" sz="1500" dirty="0"/>
          </a:p>
        </p:txBody>
      </p:sp>
      <p:sp>
        <p:nvSpPr>
          <p:cNvPr id="9" name="Checkbox"/>
          <p:cNvSpPr/>
          <p:nvPr/>
        </p:nvSpPr>
        <p:spPr>
          <a:xfrm>
            <a:off x="548640" y="3922776"/>
            <a:ext cx="347472" cy="34747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8770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 надсилається команда play;</a:t>
            </a:r>
            <a:endParaRPr lang="en-US" sz="1500" dirty="0"/>
          </a:p>
        </p:txBody>
      </p:sp>
      <p:sp>
        <p:nvSpPr>
          <p:cNvPr id="11" name="Checkbox"/>
          <p:cNvSpPr/>
          <p:nvPr/>
        </p:nvSpPr>
        <p:spPr>
          <a:xfrm>
            <a:off x="548640" y="4581144"/>
            <a:ext cx="347472" cy="34747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5354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 код перевіряє BUSY і пише про помилку.</a:t>
            </a:r>
            <a:endParaRPr lang="en-US" sz="1500" dirty="0"/>
          </a:p>
        </p:txBody>
      </p:sp>
      <p:sp>
        <p:nvSpPr>
          <p:cNvPr id="13" name="Code card"/>
          <p:cNvSpPr/>
          <p:nvPr/>
        </p:nvSpPr>
        <p:spPr>
          <a:xfrm>
            <a:off x="6035040" y="2011680"/>
            <a:ext cx="5577840" cy="25146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FF2D55">
                <a:alpha val="100000"/>
              </a:srgbClr>
            </a:outerShdw>
          </a:effectLst>
        </p:spPr>
        <p:txBody>
          <a:bodyPr wrap="square" lIns="274320" tIns="274320" rIns="274320" bIns="27432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uint8_t PIN_MP3_RX   = 10;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uint8_t PIN_MP3_TX   = 11;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uint8_t PIN_MP3_BUSY = 7;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uint8_t PIN_BUTTON   = 2;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player.begin(mp3Serial, true, true)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player.play(TRACK_NUMBER);</a:t>
            </a:r>
            <a:endParaRPr lang="en-US" sz="1400" dirty="0"/>
          </a:p>
        </p:txBody>
      </p:sp>
      <p:sp>
        <p:nvSpPr>
          <p:cNvPr id="14" name="Sticker"/>
          <p:cNvSpPr/>
          <p:nvPr/>
        </p:nvSpPr>
        <p:spPr>
          <a:xfrm rot="-240000">
            <a:off x="5852160" y="1691640"/>
            <a:ext cx="1402080" cy="420624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sketch.ino</a:t>
            </a:r>
            <a:endParaRPr lang="en-US" sz="1300" dirty="0"/>
          </a:p>
        </p:txBody>
      </p:sp>
      <p:sp>
        <p:nvSpPr>
          <p:cNvPr id="15" name="Sticker"/>
          <p:cNvSpPr/>
          <p:nvPr/>
        </p:nvSpPr>
        <p:spPr>
          <a:xfrm rot="-60000">
            <a:off x="548640" y="5349240"/>
            <a:ext cx="5334000" cy="56692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🔮 Передбач: що покаже Serial Monitor?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175260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ЕКСПЕРИМЕНТ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Запускаємо й записуємо факти</a:t>
            </a:r>
            <a:endParaRPr lang="en-US" sz="3600" dirty="0"/>
          </a:p>
        </p:txBody>
      </p:sp>
      <p:sp>
        <p:nvSpPr>
          <p:cNvPr id="4" name="Table shadow"/>
          <p:cNvSpPr/>
          <p:nvPr/>
        </p:nvSpPr>
        <p:spPr>
          <a:xfrm>
            <a:off x="621792" y="2176272"/>
            <a:ext cx="11064240" cy="23317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ДЖЕРЕЛО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ЩО ПЕРЕВІРЯЄМО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ЩО ПОБАЧИЛИ?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Serial Monitor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модуль, файл, повідомлення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BUSY (D7)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 під час відтворення?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Динамік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звук чути?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8412480" cy="8686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Скетч завантажився ≠ система довела, що звук відтворюється.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 rot="-360000">
            <a:off x="9418320" y="4434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≠</a:t>
            </a:r>
            <a:endParaRPr lang="en-US" sz="1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2606040" cy="420624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РЕЖИМ НАЛАГОДЖЕННЯ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Щось мовчить? Шукай причину</a:t>
            </a:r>
            <a:endParaRPr lang="en-US" sz="3600" dirty="0"/>
          </a:p>
        </p:txBody>
      </p:sp>
      <p:sp>
        <p:nvSpPr>
          <p:cNvPr id="4" name="Table shadow"/>
          <p:cNvSpPr/>
          <p:nvPr/>
        </p:nvSpPr>
        <p:spPr>
          <a:xfrm>
            <a:off x="621792" y="2130552"/>
            <a:ext cx="8503920" cy="27706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5039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СИМПТОМ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ПЕРЕВІР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Модуль не відповідає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живлення, GND, TX/RX, швидкість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Трек не знайдено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microSD, файл, номер треку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BUSY не активний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контакт BUSY, результат запуску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BUSY активний, а тиша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аудіовихід, дроти динаміка, гучність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137160" marB="137160" anchor="ctr">
                    <a:lnL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 rot="360000">
            <a:off x="9235440" y="182880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!?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ПРАВИЛО: </a:t>
            </a:r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одна можлива причина за раз. Wokwi перевіряє логіку, але справжнього звуку не видає.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fetti"/>
          <p:cNvSpPr/>
          <p:nvPr/>
        </p:nvSpPr>
        <p:spPr>
          <a:xfrm rot="1200000">
            <a:off x="640080" y="548640"/>
            <a:ext cx="32004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onfetti"/>
          <p:cNvSpPr/>
          <p:nvPr/>
        </p:nvSpPr>
        <p:spPr>
          <a:xfrm rot="-900000">
            <a:off x="2194560" y="1097280"/>
            <a:ext cx="228600" cy="228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onfetti"/>
          <p:cNvSpPr/>
          <p:nvPr/>
        </p:nvSpPr>
        <p:spPr>
          <a:xfrm rot="1800000">
            <a:off x="10607040" y="640080"/>
            <a:ext cx="36576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onfetti"/>
          <p:cNvSpPr/>
          <p:nvPr/>
        </p:nvSpPr>
        <p:spPr>
          <a:xfrm rot="600000">
            <a:off x="11338560" y="1737360"/>
            <a:ext cx="2286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onfetti"/>
          <p:cNvSpPr/>
          <p:nvPr/>
        </p:nvSpPr>
        <p:spPr>
          <a:xfrm rot="2700000">
            <a:off x="822960" y="3108960"/>
            <a:ext cx="256032" cy="25603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nfetti"/>
          <p:cNvSpPr/>
          <p:nvPr/>
        </p:nvSpPr>
        <p:spPr>
          <a:xfrm rot="-1500000">
            <a:off x="11155680" y="3566160"/>
            <a:ext cx="292608" cy="2926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onfetti"/>
          <p:cNvSpPr/>
          <p:nvPr/>
        </p:nvSpPr>
        <p:spPr>
          <a:xfrm rot="900000">
            <a:off x="1463040" y="5120640"/>
            <a:ext cx="36576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Confetti"/>
          <p:cNvSpPr/>
          <p:nvPr/>
        </p:nvSpPr>
        <p:spPr>
          <a:xfrm rot="-2100000">
            <a:off x="10149840" y="5212080"/>
            <a:ext cx="2743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onfetti"/>
          <p:cNvSpPr/>
          <p:nvPr/>
        </p:nvSpPr>
        <p:spPr>
          <a:xfrm rot="1500000">
            <a:off x="3749040" y="5852160"/>
            <a:ext cx="201168" cy="20116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onfetti"/>
          <p:cNvSpPr/>
          <p:nvPr/>
        </p:nvSpPr>
        <p:spPr>
          <a:xfrm rot="-600000">
            <a:off x="8138160" y="5760720"/>
            <a:ext cx="237744" cy="2377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Confetti"/>
          <p:cNvSpPr/>
          <p:nvPr/>
        </p:nvSpPr>
        <p:spPr>
          <a:xfrm rot="2400000">
            <a:off x="8961120" y="822960"/>
            <a:ext cx="201168" cy="20116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Confetti"/>
          <p:cNvSpPr/>
          <p:nvPr/>
        </p:nvSpPr>
        <p:spPr>
          <a:xfrm rot="300000">
            <a:off x="3017520" y="457200"/>
            <a:ext cx="182880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ticker"/>
          <p:cNvSpPr/>
          <p:nvPr/>
        </p:nvSpPr>
        <p:spPr>
          <a:xfrm rot="-120000">
            <a:off x="3749040" y="1188720"/>
            <a:ext cx="4373880" cy="420624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🏆 ДОСЯГНЕННЯ РОЗБЛОКОВАНО</a:t>
            </a:r>
            <a:endParaRPr lang="en-US" sz="150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1097280" y="2057400"/>
            <a:ext cx="9994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МИ ЗМУСИЛИ МАШИНУ ГОВОРИТИ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2011680" y="4434840"/>
            <a:ext cx="8165592" cy="1051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FF2D55">
                <a:alpha val="100000"/>
              </a:srgbClr>
            </a:outerShdw>
          </a:effectLst>
        </p:spPr>
        <p:txBody>
          <a:bodyPr wrap="square" lIns="274320" tIns="274320" rIns="274320" bIns="27432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Тепер кожна команда пояснює: який доказ показує, що вона справді говорить?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icker"/>
          <p:cNvSpPr/>
          <p:nvPr/>
        </p:nvSpPr>
        <p:spPr>
          <a:xfrm rot="-120000">
            <a:off x="548640" y="347472"/>
            <a:ext cx="211836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НАСТУПНІ РІВНІ</a:t>
            </a:r>
            <a:endParaRPr lang="en-US" sz="12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Чого ще бракує плеєру?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554480" cy="54864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-24000">
            <a:off x="2240280" y="2011680"/>
            <a:ext cx="9372600" cy="5486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⏰ Як пристрій дізнається час і не забуває його після вимкнення?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1554480" cy="54864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 rot="24000">
            <a:off x="2240280" y="2724912"/>
            <a:ext cx="9372600" cy="5486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 Як запустити потрібний трек рівно один раз за розкладом?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38144"/>
            <a:ext cx="1554480" cy="54864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04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 rot="-24000">
            <a:off x="2240280" y="3438144"/>
            <a:ext cx="9372600" cy="5486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💡 Чим безпечно керувати шкільним навантаженням?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151376"/>
            <a:ext cx="1554480" cy="54864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 rot="24000">
            <a:off x="2240280" y="4151376"/>
            <a:ext cx="9372600" cy="5486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🖥 Що має бачити людина на екрані?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864608"/>
            <a:ext cx="1554480" cy="54864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РІВЕНЬ 06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 rot="-24000">
            <a:off x="2240280" y="4864608"/>
            <a:ext cx="9372600" cy="54864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🧪 Як система повідомляє про помилку й відновлюється?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 відкриті рішення: розкриваємо їх на наступних уроках.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cket frame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ln w="31750">
            <a:solidFill>
              <a:schemeClr val="tx1"/>
            </a:solidFill>
            <a:prstDash val="dash"/>
          </a:ln>
        </p:spPr>
      </p:sp>
      <p:sp>
        <p:nvSpPr>
          <p:cNvPr id="3" name="Sticker"/>
          <p:cNvSpPr/>
          <p:nvPr/>
        </p:nvSpPr>
        <p:spPr>
          <a:xfrm rot="-120000">
            <a:off x="548640" y="347472"/>
            <a:ext cx="2240280" cy="420624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ВИХІДНИЙ КВИТОК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Три питання перед виходом</a:t>
            </a:r>
            <a:endParaRPr lang="en-US" sz="3600" dirty="0"/>
          </a:p>
        </p:txBody>
      </p:sp>
      <p:sp>
        <p:nvSpPr>
          <p:cNvPr id="5" name="Question 1"/>
          <p:cNvSpPr/>
          <p:nvPr/>
        </p:nvSpPr>
        <p:spPr>
          <a:xfrm>
            <a:off x="548640" y="2057400"/>
            <a:ext cx="3474720" cy="22402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Які дані йдуть через UART? А звідки береться звук?</a:t>
            </a:r>
            <a:endParaRPr lang="en-US" sz="1600" dirty="0"/>
          </a:p>
        </p:txBody>
      </p:sp>
      <p:sp>
        <p:nvSpPr>
          <p:cNvPr id="8" name="Question 2"/>
          <p:cNvSpPr/>
          <p:nvPr/>
        </p:nvSpPr>
        <p:spPr>
          <a:xfrm>
            <a:off x="4343400" y="2057400"/>
            <a:ext cx="3474720" cy="22402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640080" cy="640080"/>
          </a:xfrm>
          <a:prstGeom prst="rect">
            <a:avLst/>
          </a:prstGeom>
          <a:solidFill>
            <a:schemeClr val="accent3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після play(1) ще рано писати «ГРАЄ»?</a:t>
            </a:r>
            <a:endParaRPr lang="en-US" sz="1600" dirty="0"/>
          </a:p>
        </p:txBody>
      </p:sp>
      <p:sp>
        <p:nvSpPr>
          <p:cNvPr id="11" name="Question 3"/>
          <p:cNvSpPr/>
          <p:nvPr/>
        </p:nvSpPr>
        <p:spPr>
          <a:xfrm>
            <a:off x="8138160" y="2057400"/>
            <a:ext cx="3474720" cy="22402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 wrap="square" lIns="164592" tIns="164592" rIns="164592" bIns="164592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solidFill>
            <a:schemeClr val="accent4"/>
          </a:solidFill>
          <a:ln w="317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Яку одну проблему треба вирішити, щоб запуск був за розкладом?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1064240" cy="11430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>
            <a:outerShdw sx="100000" sy="100000" kx="0" ky="0" algn="bl" rotWithShape="0" blurRad="101600" dist="76200" dir="2700000">
              <a:srgbClr val="FF2D55">
                <a:alpha val="100000"/>
              </a:srgbClr>
            </a:outerShdw>
          </a:effectLst>
        </p:spPr>
        <p:txBody>
          <a:bodyPr wrap="square" lIns="274320" tIns="274320" rIns="274320" bIns="2743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🏠 ВДОМА: намалюй шлях час → рішення → аудіо</a:t>
            </a:r>
            <a:endParaRPr lang="en-US" sz="16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Пунктиром познач усе, що ще не обрано або не реалізовано.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236208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tx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M-93 Neo-Brutalism">
  <a:themeElements>
    <a:clrScheme name="STEM-93 Neo-Brutalism">
      <a:dk1>
        <a:srgbClr val="000000"/>
      </a:dk1>
      <a:lt1>
        <a:srgbClr val="FFFFFF"/>
      </a:lt1>
      <a:dk2>
        <a:srgbClr val="1A1A1A"/>
      </a:dk2>
      <a:lt2>
        <a:srgbClr val="F5F500"/>
      </a:lt2>
      <a:accent1>
        <a:srgbClr val="FF2D55"/>
      </a:accent1>
      <a:accent2>
        <a:srgbClr val="F5F500"/>
      </a:accent2>
      <a:accent3>
        <a:srgbClr val="CCFF00"/>
      </a:accent3>
      <a:accent4>
        <a:srgbClr val="0000FF"/>
      </a:accent4>
      <a:accent5>
        <a:srgbClr val="FF3B30"/>
      </a:accent5>
      <a:accent6>
        <a:srgbClr val="00C8FF"/>
      </a:accent6>
      <a:hlink>
        <a:srgbClr val="0000FF"/>
      </a:hlink>
      <a:folHlink>
        <a:srgbClr val="7A00FF"/>
      </a:folHlink>
    </a:clrScheme>
    <a:fontScheme name="STEM-93 Neo-Brutalism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 — Змусь машину говорити</dc:title>
  <dc:subject>PptxGenJS Presentation</dc:subject>
  <dc:creator>STEM-93</dc:creator>
  <cp:lastModifiedBy>STEM-93</cp:lastModifiedBy>
  <cp:revision>1</cp:revision>
  <dcterms:created xsi:type="dcterms:W3CDTF">2026-10-08T21:26:04Z</dcterms:created>
  <dcterms:modified xsi:type="dcterms:W3CDTF">2026-10-08T21:26:04Z</dcterms:modified>
</cp:coreProperties>
</file>