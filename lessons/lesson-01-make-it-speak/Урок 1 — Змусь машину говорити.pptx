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Відкрийте урок із питання, а не з теорії. Перший звук — головна мета всього заняття. Професор Ом — наш наставник: він коментує кожен крок, а «закляття» — це команди, які ми даємо пристрою.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Зберіть 2–3 малюнки й залиште їх на дошці: до них повернемося на слайді з ланцюгом.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лекція з C++, а знайомство. Верхні три рядки коду — змінні (зберігають), нижні два — методи (діють). Pointer, reference, class і object зараз не пояснюємо: учні побачать ці поняття пізніше на реальному коді DFPlayer.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Викладач грає робота, який має volume, song та isPlaying. Після кожної зміни учні пояснюють, що станеться: стане гучніше, робот «грає». Наприкінці підведіть до ідеї: player.play(...) — це метод.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Порівняйте ланцюг із малюнками учнів з розминки. Звідки береться трек? Хто саме перетворює файл на звук?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Питання професора — місток до теорії UART. Дайте учням проголосувати «так / ні» перед наступним слайдом.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Відповідь на питання з попереднього слайда: ні, по UART ідуть лише команди й відповіді модуля, а звук формує сам DFPlayer. Скетч чекає BUSY = LOW до 1,5 с після команди; тільки тоді пише, що звук підтверджено, і вмикає світлодіод D13. Питання до класу: звуку немає — що перевіриш першим?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Працюємо тільки з перевіреним стендом. Схема праворуч — затверджена схема уроку (wiring.svg у папці уроку).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Фрагмент ліворуч — справжні рядки зі скетчу уроку. Спершу учні знаходять у sketch/sketch.ino контакти D10, D11, D7 і кнопку D2, старт зв'язку з DFPlayer, команду play і перевірку BUSY, а потім передбачають вивід Serial Monitor. Після запуску кожна команда заповнює таблицю окремо: три рядки — три незалежні факти.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Святкуємо, але одразу вимагаємо доказ: Serial Monitor, BUSY = LOW і звук у динаміку.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Кожне питання — окремий урок курсу. Це відкриті рішення: модулі RTC, дисплея й реле ще не обрані, команда ухвалить це пізніше.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1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2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3A2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333500" y="1013461"/>
            <a:ext cx="9525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333500" y="1765301"/>
            <a:ext cx="10045700" cy="4279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333500" y="1013461"/>
            <a:ext cx="9525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333500" y="1765301"/>
            <a:ext cx="10045700" cy="4279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333500" y="1013461"/>
            <a:ext cx="9525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333500" y="1765301"/>
            <a:ext cx="10045700" cy="4279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2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333500" y="1013461"/>
            <a:ext cx="9525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333500" y="1765301"/>
            <a:ext cx="10045700" cy="4279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4150" y="184150"/>
            <a:ext cx="11823700" cy="6489700"/>
          </a:xfrm>
          <a:prstGeom prst="rect">
            <a:avLst/>
          </a:prstGeom>
          <a:noFill/>
          <a:ln w="12700">
            <a:solidFill>
              <a:srgbClr val="8A734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2575" y="282575"/>
            <a:ext cx="11626850" cy="629285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59450" y="723900"/>
            <a:ext cx="673100" cy="673100"/>
          </a:xfrm>
          <a:custGeom>
            <a:avLst/>
            <a:gdLst/>
            <a:ahLst/>
            <a:cxnLst/>
            <a:rect l="l" t="t" r="r" b="b"/>
            <a:pathLst>
              <a:path w="673100" h="673100">
                <a:moveTo>
                  <a:pt x="336550" y="0"/>
                </a:moveTo>
                <a:lnTo>
                  <a:pt x="336550" y="0"/>
                </a:lnTo>
                <a:arcTo hR="336550" wR="336550" stAng="16200000" swAng="5400000"/>
                <a:lnTo>
                  <a:pt x="673100" y="336550"/>
                </a:lnTo>
                <a:arcTo hR="336550" wR="336550" stAng="0" swAng="5400000"/>
                <a:lnTo>
                  <a:pt x="336550" y="673100"/>
                </a:lnTo>
                <a:arcTo hR="336550" wR="336550" stAng="5400000" swAng="5400000"/>
                <a:lnTo>
                  <a:pt x="0" y="336550"/>
                </a:lnTo>
                <a:arcTo hR="336550" wR="336550" stAng="10800000" swAng="5400000"/>
                <a:close/>
              </a:path>
            </a:pathLst>
          </a:custGeom>
          <a:solidFill>
            <a:srgbClr val="7A1F1F"/>
          </a:solidFill>
          <a:ln w="25400">
            <a:solidFill>
              <a:srgbClr val="4A1010"/>
            </a:solidFill>
            <a:prstDash val="solid"/>
          </a:ln>
          <a:effectLst>
            <a:outerShdw sx="100000" sy="100000" kx="0" ky="0" algn="bl" rotWithShape="0" blurRad="0" dist="25400" dir="5400000">
              <a:srgbClr val="2A0808">
                <a:alpha val="100000"/>
              </a:srgbClr>
            </a:outerShdw>
          </a:effectLst>
        </p:spPr>
        <p:txBody>
          <a:bodyPr wrap="square" lIns="0" tIns="12700" rIns="0" bIns="0" rtlCol="0" anchor="t">
            <a:normAutofit/>
          </a:bodyPr>
          <a:lstStyle/>
          <a:p>
            <a:pPr algn="ctr" indent="0" marL="0">
              <a:lnSpc>
                <a:spcPts val="5104"/>
              </a:lnSpc>
              <a:buNone/>
            </a:pPr>
            <a:r>
              <a:rPr lang="en-US" sz="2200" b="1" i="1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Ом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758184" y="1549400"/>
            <a:ext cx="467563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spc="4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I · АУДІОЛАБ STEM-93</a:t>
            </a:r>
            <a:endParaRPr lang="en-US" sz="1300" dirty="0"/>
          </a:p>
        </p:txBody>
      </p:sp>
      <p:sp>
        <p:nvSpPr>
          <p:cNvPr id="7" name="Text 4"/>
          <p:cNvSpPr/>
          <p:nvPr>
            <p:ph type="title"/>
          </p:nvPr>
        </p:nvSpPr>
        <p:spPr>
          <a:xfrm>
            <a:off x="762000" y="1920240"/>
            <a:ext cx="1066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300"/>
              </a:lnSpc>
              <a:buNone/>
            </a:pPr>
            <a:r>
              <a:rPr lang="en-US" sz="6000" b="0" i="1" spc="100" kern="0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Змусь машину говорити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4800600" y="290449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pic>
        <p:nvPicPr>
          <p:cNvPr id="9" name="Image 1" descr="diamo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2860040"/>
            <a:ext cx="101600" cy="101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48400" y="290449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sp>
        <p:nvSpPr>
          <p:cNvPr id="11" name="Text 7"/>
          <p:cNvSpPr/>
          <p:nvPr/>
        </p:nvSpPr>
        <p:spPr>
          <a:xfrm>
            <a:off x="1844675" y="3101340"/>
            <a:ext cx="850265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D4BF9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Arduino дає команду — і ми чуємо перший звук.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831850" y="5093970"/>
            <a:ext cx="9423400" cy="103378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051560" y="536956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0"/>
                </a:moveTo>
                <a:lnTo>
                  <a:pt x="241300" y="0"/>
                </a:lnTo>
                <a:arcTo hR="241300" wR="241300" stAng="16200000" swAng="5400000"/>
                <a:lnTo>
                  <a:pt x="482600" y="241300"/>
                </a:lnTo>
                <a:arcTo hR="241300" wR="241300" stAng="0" swAng="5400000"/>
                <a:lnTo>
                  <a:pt x="241300" y="482600"/>
                </a:lnTo>
                <a:arcTo hR="241300" wR="241300" stAng="5400000" swAng="5400000"/>
                <a:lnTo>
                  <a:pt x="0" y="241300"/>
                </a:lnTo>
                <a:arcTo hR="241300" wR="241300" stAng="10800000" swAng="5400000"/>
                <a:close/>
              </a:path>
            </a:pathLst>
          </a:custGeom>
          <a:solidFill>
            <a:srgbClr val="7A1F1F"/>
          </a:solidFill>
          <a:ln w="25400">
            <a:solidFill>
              <a:srgbClr val="4A1010"/>
            </a:solidFill>
            <a:prstDash val="solid"/>
          </a:ln>
          <a:effectLst>
            <a:outerShdw sx="100000" sy="100000" kx="0" ky="0" algn="bl" rotWithShape="0" blurRad="0" dist="25400" dir="5400000">
              <a:srgbClr val="2A0808">
                <a:alpha val="100000"/>
              </a:srgbClr>
            </a:outerShdw>
          </a:effectLst>
        </p:spPr>
        <p:txBody>
          <a:bodyPr wrap="square" lIns="0" tIns="1270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500" b="1" i="1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Ом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711960" y="5212080"/>
            <a:ext cx="858636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1D0E"/>
                </a:solidFill>
                <a:latin typeface="Marck Script" pitchFamily="18" charset="0"/>
                <a:ea typeface="Marck Script" pitchFamily="18" charset="-122"/>
                <a:cs typeface="Marck Script" pitchFamily="18" charset="-120"/>
              </a:rPr>
              <a:t>Вітаю в майстерні. Сьогодні ваше перше закляття — змусити машину заговорити.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711960" y="5796280"/>
            <a:ext cx="85863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ПРОФЕСОР ОМ</a:t>
            </a:r>
            <a:endParaRPr lang="en-US" sz="1200" dirty="0"/>
          </a:p>
        </p:txBody>
      </p:sp>
      <p:pic>
        <p:nvPicPr>
          <p:cNvPr id="16" name="Image 2" descr="Професор Ом — чарівник-наставник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26700" y="4908550"/>
            <a:ext cx="95250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4150" y="184150"/>
            <a:ext cx="11823700" cy="6489700"/>
          </a:xfrm>
          <a:prstGeom prst="rect">
            <a:avLst/>
          </a:prstGeom>
          <a:noFill/>
          <a:ln w="12700">
            <a:solidFill>
              <a:srgbClr val="8A734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2575" y="282575"/>
            <a:ext cx="11626850" cy="629285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86556" y="711200"/>
            <a:ext cx="48188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II · РОЗМИНКА · 3 ХВИЛИНИ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1190625" y="1013460"/>
            <a:ext cx="981075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0" i="1" spc="50" kern="0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Що потрібно машині, щоб видати звук?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8006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pic>
        <p:nvPicPr>
          <p:cNvPr id="8" name="Image 1" descr="diamo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1549400"/>
            <a:ext cx="101600" cy="10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4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sp>
        <p:nvSpPr>
          <p:cNvPr id="10" name="Text 6"/>
          <p:cNvSpPr/>
          <p:nvPr/>
        </p:nvSpPr>
        <p:spPr>
          <a:xfrm>
            <a:off x="1987550" y="2860675"/>
            <a:ext cx="8216900" cy="100330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  <p:txBody>
          <a:bodyPr wrap="square" lIns="103048" tIns="181610" rIns="103047" bIns="15621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Намалюйте шлях </a:t>
            </a:r>
            <a:r>
              <a:rPr lang="en-US" sz="1800" b="1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від команди до ваших вух</a:t>
            </a:r>
            <a:r>
              <a:rPr lang="en-US" sz="18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. Помилятися можна: за хвилину порівняємо версії.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31850" y="5379720"/>
            <a:ext cx="9550400" cy="74803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051560" y="5512435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0"/>
                </a:moveTo>
                <a:lnTo>
                  <a:pt x="241300" y="0"/>
                </a:lnTo>
                <a:arcTo hR="241300" wR="241300" stAng="16200000" swAng="5400000"/>
                <a:lnTo>
                  <a:pt x="482600" y="241300"/>
                </a:lnTo>
                <a:arcTo hR="241300" wR="241300" stAng="0" swAng="5400000"/>
                <a:lnTo>
                  <a:pt x="241300" y="482600"/>
                </a:lnTo>
                <a:arcTo hR="241300" wR="241300" stAng="5400000" swAng="5400000"/>
                <a:lnTo>
                  <a:pt x="0" y="241300"/>
                </a:lnTo>
                <a:arcTo hR="241300" wR="241300" stAng="10800000" swAng="5400000"/>
                <a:close/>
              </a:path>
            </a:pathLst>
          </a:custGeom>
          <a:solidFill>
            <a:srgbClr val="7A1F1F"/>
          </a:solidFill>
          <a:ln w="25400">
            <a:solidFill>
              <a:srgbClr val="4A1010"/>
            </a:solidFill>
            <a:prstDash val="solid"/>
          </a:ln>
          <a:effectLst>
            <a:outerShdw sx="100000" sy="100000" kx="0" ky="0" algn="bl" rotWithShape="0" blurRad="0" dist="25400" dir="5400000">
              <a:srgbClr val="2A0808">
                <a:alpha val="100000"/>
              </a:srgbClr>
            </a:outerShdw>
          </a:effectLst>
        </p:spPr>
        <p:txBody>
          <a:bodyPr wrap="square" lIns="0" tIns="1270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500" b="1" i="1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Ом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711960" y="5497830"/>
            <a:ext cx="871717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1D0E"/>
                </a:solidFill>
                <a:latin typeface="Marck Script" pitchFamily="18" charset="0"/>
                <a:ea typeface="Marck Script" pitchFamily="18" charset="-122"/>
                <a:cs typeface="Marck Script" pitchFamily="18" charset="-120"/>
              </a:rPr>
              <a:t>Кожне закляття має свій шлях. Намалюйте його — помилки тут дозволені.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711960" y="5796280"/>
            <a:ext cx="87171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ПРОФЕСОР ОМ</a:t>
            </a:r>
            <a:endParaRPr lang="en-US" sz="1200" dirty="0"/>
          </a:p>
        </p:txBody>
      </p:sp>
      <p:pic>
        <p:nvPicPr>
          <p:cNvPr id="15" name="Image 2" descr="Професор Ом — чарівник-наставник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53700" y="5073650"/>
            <a:ext cx="825500" cy="1073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4150" y="184150"/>
            <a:ext cx="11823700" cy="6489700"/>
          </a:xfrm>
          <a:prstGeom prst="rect">
            <a:avLst/>
          </a:prstGeom>
          <a:noFill/>
          <a:ln w="12700">
            <a:solidFill>
              <a:srgbClr val="8A734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2575" y="282575"/>
            <a:ext cx="11626850" cy="629285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30624" y="711200"/>
            <a:ext cx="3730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III · ТЕОРІЯ · КОД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1190625" y="1013461"/>
            <a:ext cx="981075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0" i="1" spc="50" kern="0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Познайомимось із кодом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8006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pic>
        <p:nvPicPr>
          <p:cNvPr id="8" name="Image 1" descr="diamo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1549400"/>
            <a:ext cx="101600" cy="10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4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sp>
        <p:nvSpPr>
          <p:cNvPr id="10" name="Shape 6"/>
          <p:cNvSpPr/>
          <p:nvPr/>
        </p:nvSpPr>
        <p:spPr>
          <a:xfrm>
            <a:off x="815975" y="1964691"/>
            <a:ext cx="3549650" cy="2020570"/>
          </a:xfrm>
          <a:prstGeom prst="rect">
            <a:avLst/>
          </a:prstGeom>
          <a:solidFill>
            <a:srgbClr val="0E0A05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38100" dist="0" dir="60000">
              <a:srgbClr val="1A1208">
                <a:alpha val="10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21080" y="2144395"/>
            <a:ext cx="3233623" cy="75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volume = 20;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String song = "Welcome.mp3";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bool isPlaying = false;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21080" y="2990216"/>
            <a:ext cx="3233623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FE3C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player.volume(volume);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FE3C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player.play(1);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21080" y="3592195"/>
            <a:ext cx="32336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734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змінні · методи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22800" y="1961516"/>
            <a:ext cx="6756400" cy="2801620"/>
          </a:xfrm>
          <a:prstGeom prst="rect">
            <a:avLst/>
          </a:prstGeom>
          <a:solidFill>
            <a:srgbClr val="E8D9B5"/>
          </a:solidFill>
          <a:ln/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360150" y="1961516"/>
            <a:ext cx="0" cy="2801620"/>
          </a:xfrm>
          <a:prstGeom prst="line">
            <a:avLst/>
          </a:prstGeom>
          <a:noFill/>
          <a:ln w="38100">
            <a:solidFill>
              <a:srgbClr val="8A73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22800" y="4744086"/>
            <a:ext cx="6756400" cy="0"/>
          </a:xfrm>
          <a:prstGeom prst="line">
            <a:avLst/>
          </a:prstGeom>
          <a:noFill/>
          <a:ln w="38100">
            <a:solidFill>
              <a:srgbClr val="8A7340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32960" y="1971676"/>
          <a:ext cx="6710680" cy="2755900"/>
        </p:xfrm>
        <a:graphic>
          <a:graphicData uri="http://schemas.openxmlformats.org/drawingml/2006/table">
            <a:tbl>
              <a:tblPr/>
              <a:tblGrid>
                <a:gridCol w="2818486"/>
                <a:gridCol w="1476350"/>
                <a:gridCol w="2415845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E8D9B5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Шматок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E8D9B5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Що це?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E8D9B5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Аналогія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int volume = 20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Змінна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Коробка з числом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String song = "Welcome.mp3"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Змінна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Коробка з текстом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bool isPlaying = false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Змінна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Так / Ні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player.volume(20)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Метод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«Зроби дію»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player.play(1)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Метод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«Запусти трек №1»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int, String, bool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Типи даних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Що можна покласти в коробку?</a:t>
                      </a:r>
                      <a:endParaRPr lang="en-US" sz="13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3"/>
          <p:cNvSpPr/>
          <p:nvPr/>
        </p:nvSpPr>
        <p:spPr>
          <a:xfrm>
            <a:off x="831850" y="5093970"/>
            <a:ext cx="9550400" cy="103378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1051560" y="5369561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0"/>
                </a:moveTo>
                <a:lnTo>
                  <a:pt x="241300" y="0"/>
                </a:lnTo>
                <a:arcTo hR="241300" wR="241300" stAng="16200000" swAng="5400000"/>
                <a:lnTo>
                  <a:pt x="482600" y="241300"/>
                </a:lnTo>
                <a:arcTo hR="241300" wR="241300" stAng="0" swAng="5400000"/>
                <a:lnTo>
                  <a:pt x="241300" y="482600"/>
                </a:lnTo>
                <a:arcTo hR="241300" wR="241300" stAng="5400000" swAng="5400000"/>
                <a:lnTo>
                  <a:pt x="0" y="241300"/>
                </a:lnTo>
                <a:arcTo hR="241300" wR="241300" stAng="10800000" swAng="5400000"/>
                <a:close/>
              </a:path>
            </a:pathLst>
          </a:custGeom>
          <a:solidFill>
            <a:srgbClr val="7A1F1F"/>
          </a:solidFill>
          <a:ln w="25400">
            <a:solidFill>
              <a:srgbClr val="4A1010"/>
            </a:solidFill>
            <a:prstDash val="solid"/>
          </a:ln>
          <a:effectLst>
            <a:outerShdw sx="100000" sy="100000" kx="0" ky="0" algn="bl" rotWithShape="0" blurRad="0" dist="25400" dir="5400000">
              <a:srgbClr val="2A0808">
                <a:alpha val="100000"/>
              </a:srgbClr>
            </a:outerShdw>
          </a:effectLst>
        </p:spPr>
        <p:txBody>
          <a:bodyPr wrap="square" lIns="0" tIns="1270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500" b="1" i="1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Ом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711960" y="5212080"/>
            <a:ext cx="871717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1D0E"/>
                </a:solidFill>
                <a:latin typeface="Marck Script" pitchFamily="18" charset="0"/>
                <a:ea typeface="Marck Script" pitchFamily="18" charset="-122"/>
                <a:cs typeface="Marck Script" pitchFamily="18" charset="-120"/>
              </a:rPr>
              <a:t>Запам'ятайте головне правило: змінна зберігає інформацію, метод просить програму щось зробити.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11960" y="5796280"/>
            <a:ext cx="87171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ПРОФЕСОР ОМ</a:t>
            </a:r>
            <a:endParaRPr lang="en-US" sz="1200" dirty="0"/>
          </a:p>
        </p:txBody>
      </p:sp>
      <p:pic>
        <p:nvPicPr>
          <p:cNvPr id="22" name="Image 2" descr="Професор Ом — чарівник-наставник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53700" y="5073650"/>
            <a:ext cx="825500" cy="1073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4150" y="184150"/>
            <a:ext cx="11823700" cy="6489700"/>
          </a:xfrm>
          <a:prstGeom prst="rect">
            <a:avLst/>
          </a:prstGeom>
          <a:noFill/>
          <a:ln w="12700">
            <a:solidFill>
              <a:srgbClr val="8A734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2575" y="282575"/>
            <a:ext cx="11626850" cy="629285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2004" y="711200"/>
            <a:ext cx="45079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IV · ТРЕНУВАННЯ ЗАКЛЯТЬ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1190625" y="1013461"/>
            <a:ext cx="981075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0" i="1" spc="50" kern="0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Я — робот. Що зміниться?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8006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pic>
        <p:nvPicPr>
          <p:cNvPr id="8" name="Image 1" descr="diamo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1549400"/>
            <a:ext cx="101600" cy="10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4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sp>
        <p:nvSpPr>
          <p:cNvPr id="10" name="Shape 6"/>
          <p:cNvSpPr/>
          <p:nvPr/>
        </p:nvSpPr>
        <p:spPr>
          <a:xfrm>
            <a:off x="831850" y="2376170"/>
            <a:ext cx="3898900" cy="169545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51560" y="2557780"/>
            <a:ext cx="3563264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i="1" dirty="0">
                <a:solidFill>
                  <a:srgbClr val="7A1F1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У мене є volume, song та isPlaying.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051560" y="2914650"/>
            <a:ext cx="356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Ми змінюємо дві речі: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51560" y="3239770"/>
            <a:ext cx="3563264" cy="675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volume = 30;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isPlaying = true;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022850" y="2376170"/>
            <a:ext cx="6337300" cy="197231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242560" y="2557780"/>
            <a:ext cx="60748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i="1" dirty="0">
                <a:solidFill>
                  <a:srgbClr val="7A1F1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Питання до класу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333373" y="2877820"/>
            <a:ext cx="5976383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187" indent="-163187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Яка тут змінна?</a:t>
            </a:r>
            <a:endParaRPr lang="en-US" sz="1400" dirty="0"/>
          </a:p>
          <a:p>
            <a:pPr algn="l" marL="163187" indent="-163187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Де тут текст, а де число?</a:t>
            </a:r>
            <a:endParaRPr lang="en-US" sz="1400" dirty="0"/>
          </a:p>
          <a:p>
            <a:pPr algn="l" marL="163187" indent="-163187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Що означає true?</a:t>
            </a:r>
            <a:endParaRPr lang="en-US" sz="1400" dirty="0"/>
          </a:p>
          <a:p>
            <a:pPr algn="l" marL="163187" indent="-163187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Який рядок зберігає інформацію, а який дає команду?</a:t>
            </a:r>
            <a:endParaRPr lang="en-US" sz="1400" dirty="0"/>
          </a:p>
          <a:p>
            <a:pPr algn="l" marL="163187" indent="-163187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Як би ми назвали player.play(...)?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31850" y="5379720"/>
            <a:ext cx="9550400" cy="74803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1051560" y="5512436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0"/>
                </a:moveTo>
                <a:lnTo>
                  <a:pt x="241300" y="0"/>
                </a:lnTo>
                <a:arcTo hR="241300" wR="241300" stAng="16200000" swAng="5400000"/>
                <a:lnTo>
                  <a:pt x="482600" y="241300"/>
                </a:lnTo>
                <a:arcTo hR="241300" wR="241300" stAng="0" swAng="5400000"/>
                <a:lnTo>
                  <a:pt x="241300" y="482600"/>
                </a:lnTo>
                <a:arcTo hR="241300" wR="241300" stAng="5400000" swAng="5400000"/>
                <a:lnTo>
                  <a:pt x="0" y="241300"/>
                </a:lnTo>
                <a:arcTo hR="241300" wR="241300" stAng="10800000" swAng="5400000"/>
                <a:close/>
              </a:path>
            </a:pathLst>
          </a:custGeom>
          <a:solidFill>
            <a:srgbClr val="7A1F1F"/>
          </a:solidFill>
          <a:ln w="25400">
            <a:solidFill>
              <a:srgbClr val="4A1010"/>
            </a:solidFill>
            <a:prstDash val="solid"/>
          </a:ln>
          <a:effectLst>
            <a:outerShdw sx="100000" sy="100000" kx="0" ky="0" algn="bl" rotWithShape="0" blurRad="0" dist="25400" dir="5400000">
              <a:srgbClr val="2A0808">
                <a:alpha val="100000"/>
              </a:srgbClr>
            </a:outerShdw>
          </a:effectLst>
        </p:spPr>
        <p:txBody>
          <a:bodyPr wrap="square" lIns="0" tIns="1270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500" b="1" i="1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Ом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711960" y="5497832"/>
            <a:ext cx="871717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1D0E"/>
                </a:solidFill>
                <a:latin typeface="Marck Script" pitchFamily="18" charset="0"/>
                <a:ea typeface="Marck Script" pitchFamily="18" charset="-122"/>
                <a:cs typeface="Marck Script" pitchFamily="18" charset="-120"/>
              </a:rPr>
              <a:t>Уявіть, що я — ваш робот. Змініть мої змінні й поясніть, що станеться.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711960" y="5796282"/>
            <a:ext cx="87171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ПРОФЕСОР ОМ</a:t>
            </a:r>
            <a:endParaRPr lang="en-US" sz="1200" dirty="0"/>
          </a:p>
        </p:txBody>
      </p:sp>
      <p:pic>
        <p:nvPicPr>
          <p:cNvPr id="21" name="Image 2" descr="Професор Ом — чарівник-наставник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53700" y="5073650"/>
            <a:ext cx="825500" cy="1073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4150" y="184150"/>
            <a:ext cx="11823700" cy="6489700"/>
          </a:xfrm>
          <a:prstGeom prst="rect">
            <a:avLst/>
          </a:prstGeom>
          <a:noFill/>
          <a:ln w="12700">
            <a:solidFill>
              <a:srgbClr val="8A734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2575" y="282575"/>
            <a:ext cx="11626850" cy="629285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52416" y="711200"/>
            <a:ext cx="24871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V · ТЕОРІЯ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1190625" y="1013461"/>
            <a:ext cx="981075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0" i="1" spc="50" kern="0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Від команди до звуку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8006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pic>
        <p:nvPicPr>
          <p:cNvPr id="8" name="Image 1" descr="diamo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1549400"/>
            <a:ext cx="101600" cy="10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4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sp>
        <p:nvSpPr>
          <p:cNvPr id="10" name="Shape 6"/>
          <p:cNvSpPr/>
          <p:nvPr/>
        </p:nvSpPr>
        <p:spPr>
          <a:xfrm>
            <a:off x="831850" y="2789557"/>
            <a:ext cx="2203450" cy="114554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51560" y="2971164"/>
            <a:ext cx="18169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i="1" dirty="0">
                <a:solidFill>
                  <a:srgbClr val="7A1F1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Arduino Uno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51560" y="3291207"/>
            <a:ext cx="181695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надсилає команду «грай трек 1»</a:t>
            </a:r>
            <a:endParaRPr lang="en-US" sz="1300" dirty="0"/>
          </a:p>
        </p:txBody>
      </p:sp>
      <p:pic>
        <p:nvPicPr>
          <p:cNvPr id="13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81350" y="3292475"/>
            <a:ext cx="279400" cy="1397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06800" y="2789557"/>
            <a:ext cx="2203450" cy="114554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3826510" y="2971164"/>
            <a:ext cx="18169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i="1" dirty="0">
                <a:solidFill>
                  <a:srgbClr val="7A1F1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DFPlayer Mini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826510" y="3291207"/>
            <a:ext cx="181695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знаходить MP3 на microSD і декодує</a:t>
            </a:r>
            <a:endParaRPr lang="en-US" sz="1300" dirty="0"/>
          </a:p>
        </p:txBody>
      </p:sp>
      <p:pic>
        <p:nvPicPr>
          <p:cNvPr id="17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56300" y="3292475"/>
            <a:ext cx="279400" cy="1397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81750" y="2789557"/>
            <a:ext cx="2203450" cy="114554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601460" y="2971164"/>
            <a:ext cx="18169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i="1" dirty="0">
                <a:solidFill>
                  <a:srgbClr val="7A1F1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Динамік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601460" y="3291207"/>
            <a:ext cx="181695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перетворює сигнал на коливання повітря</a:t>
            </a:r>
            <a:endParaRPr lang="en-US" sz="1300" dirty="0"/>
          </a:p>
        </p:txBody>
      </p:sp>
      <p:pic>
        <p:nvPicPr>
          <p:cNvPr id="21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31250" y="3292475"/>
            <a:ext cx="279400" cy="1397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156700" y="2789557"/>
            <a:ext cx="2203450" cy="114554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9376410" y="2971164"/>
            <a:ext cx="18169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i="1" dirty="0">
                <a:solidFill>
                  <a:srgbClr val="7A1F1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Звук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376410" y="3291207"/>
            <a:ext cx="181695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доказ, що весь ланцюг спрацював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31850" y="5093971"/>
            <a:ext cx="9550400" cy="103378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1051560" y="5369561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0"/>
                </a:moveTo>
                <a:lnTo>
                  <a:pt x="241300" y="0"/>
                </a:lnTo>
                <a:arcTo hR="241300" wR="241300" stAng="16200000" swAng="5400000"/>
                <a:lnTo>
                  <a:pt x="482600" y="241300"/>
                </a:lnTo>
                <a:arcTo hR="241300" wR="241300" stAng="0" swAng="5400000"/>
                <a:lnTo>
                  <a:pt x="241300" y="482600"/>
                </a:lnTo>
                <a:arcTo hR="241300" wR="241300" stAng="5400000" swAng="5400000"/>
                <a:lnTo>
                  <a:pt x="0" y="241300"/>
                </a:lnTo>
                <a:arcTo hR="241300" wR="241300" stAng="10800000" swAng="5400000"/>
                <a:close/>
              </a:path>
            </a:pathLst>
          </a:custGeom>
          <a:solidFill>
            <a:srgbClr val="7A1F1F"/>
          </a:solidFill>
          <a:ln w="25400">
            <a:solidFill>
              <a:srgbClr val="4A1010"/>
            </a:solidFill>
            <a:prstDash val="solid"/>
          </a:ln>
          <a:effectLst>
            <a:outerShdw sx="100000" sy="100000" kx="0" ky="0" algn="bl" rotWithShape="0" blurRad="0" dist="25400" dir="5400000">
              <a:srgbClr val="2A0808">
                <a:alpha val="100000"/>
              </a:srgbClr>
            </a:outerShdw>
          </a:effectLst>
        </p:spPr>
        <p:txBody>
          <a:bodyPr wrap="square" lIns="0" tIns="1270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500" b="1" i="1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Ом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711960" y="5212082"/>
            <a:ext cx="871717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1D0E"/>
                </a:solidFill>
                <a:latin typeface="Marck Script" pitchFamily="18" charset="0"/>
                <a:ea typeface="Marck Script" pitchFamily="18" charset="-122"/>
                <a:cs typeface="Marck Script" pitchFamily="18" charset="-120"/>
              </a:rPr>
              <a:t>Сьогодні — лише одне закляття: ручний запуск одного треку. Розклад і точний час чекають на наступних рівнях.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1711960" y="5796282"/>
            <a:ext cx="87171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ПРОФЕСОР ОМ</a:t>
            </a:r>
            <a:endParaRPr lang="en-US" sz="1200" dirty="0"/>
          </a:p>
        </p:txBody>
      </p:sp>
      <p:pic>
        <p:nvPicPr>
          <p:cNvPr id="29" name="Image 5" descr="Професор Ом — чарівник-наставник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553700" y="5073650"/>
            <a:ext cx="825500" cy="1073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4150" y="184150"/>
            <a:ext cx="11823700" cy="6489700"/>
          </a:xfrm>
          <a:prstGeom prst="rect">
            <a:avLst/>
          </a:prstGeom>
          <a:noFill/>
          <a:ln w="12700">
            <a:solidFill>
              <a:srgbClr val="8A734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2575" y="282575"/>
            <a:ext cx="11626850" cy="629285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696968" y="711200"/>
            <a:ext cx="27980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VI · КОМАНДА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1190625" y="1013461"/>
            <a:ext cx="981075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0" i="1" spc="50" kern="0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Хто за що відповідає?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8006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pic>
        <p:nvPicPr>
          <p:cNvPr id="8" name="Image 1" descr="diamo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1549400"/>
            <a:ext cx="101600" cy="10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4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sp>
        <p:nvSpPr>
          <p:cNvPr id="10" name="Shape 6"/>
          <p:cNvSpPr/>
          <p:nvPr/>
        </p:nvSpPr>
        <p:spPr>
          <a:xfrm>
            <a:off x="831850" y="2309496"/>
            <a:ext cx="5143500" cy="93218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51560" y="2491107"/>
            <a:ext cx="484520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i="1" dirty="0">
                <a:solidFill>
                  <a:srgbClr val="7A1F1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Arduino Uno · мозок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51560" y="2811146"/>
            <a:ext cx="4845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Виконує програму й надсилає команди.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16650" y="2309496"/>
            <a:ext cx="5143500" cy="93218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436360" y="2491107"/>
            <a:ext cx="484520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i="1" dirty="0">
                <a:solidFill>
                  <a:srgbClr val="7A1F1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DFPlayer Mini · DJ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36360" y="2811146"/>
            <a:ext cx="4845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Шукає трек, декодує MP3, видає аудіосигнал.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31850" y="3482975"/>
            <a:ext cx="5143500" cy="93218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1051560" y="3664586"/>
            <a:ext cx="484520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i="1" dirty="0">
                <a:solidFill>
                  <a:srgbClr val="7A1F1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microSD · фонотека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051560" y="3984625"/>
            <a:ext cx="4845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Зберігає аудіофайли.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16650" y="3482975"/>
            <a:ext cx="5143500" cy="93218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436360" y="3664586"/>
            <a:ext cx="484520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i="1" dirty="0">
                <a:solidFill>
                  <a:srgbClr val="7A1F1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Динамік · голос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36360" y="3984625"/>
            <a:ext cx="4845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Перетворює сигнал на звук.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31850" y="5093971"/>
            <a:ext cx="9550400" cy="103378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051560" y="5369561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0"/>
                </a:moveTo>
                <a:lnTo>
                  <a:pt x="241300" y="0"/>
                </a:lnTo>
                <a:arcTo hR="241300" wR="241300" stAng="16200000" swAng="5400000"/>
                <a:lnTo>
                  <a:pt x="482600" y="241300"/>
                </a:lnTo>
                <a:arcTo hR="241300" wR="241300" stAng="0" swAng="5400000"/>
                <a:lnTo>
                  <a:pt x="241300" y="482600"/>
                </a:lnTo>
                <a:arcTo hR="241300" wR="241300" stAng="5400000" swAng="5400000"/>
                <a:lnTo>
                  <a:pt x="0" y="241300"/>
                </a:lnTo>
                <a:arcTo hR="241300" wR="241300" stAng="10800000" swAng="5400000"/>
                <a:close/>
              </a:path>
            </a:pathLst>
          </a:custGeom>
          <a:solidFill>
            <a:srgbClr val="7A1F1F"/>
          </a:solidFill>
          <a:ln w="25400">
            <a:solidFill>
              <a:srgbClr val="4A1010"/>
            </a:solidFill>
            <a:prstDash val="solid"/>
          </a:ln>
          <a:effectLst>
            <a:outerShdw sx="100000" sy="100000" kx="0" ky="0" algn="bl" rotWithShape="0" blurRad="0" dist="25400" dir="5400000">
              <a:srgbClr val="2A0808">
                <a:alpha val="100000"/>
              </a:srgbClr>
            </a:outerShdw>
          </a:effectLst>
        </p:spPr>
        <p:txBody>
          <a:bodyPr wrap="square" lIns="0" tIns="1270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500" b="1" i="1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Ом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1711960" y="5212082"/>
            <a:ext cx="871717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1D0E"/>
                </a:solidFill>
                <a:latin typeface="Marck Script" pitchFamily="18" charset="0"/>
                <a:ea typeface="Marck Script" pitchFamily="18" charset="-122"/>
                <a:cs typeface="Marck Script" pitchFamily="18" charset="-120"/>
              </a:rPr>
              <a:t>Питання на іспит: чи передає Arduino саму музику по UART? Проголосуйте, перш ніж перегорнути сторінку.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711960" y="5796282"/>
            <a:ext cx="87171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ПРОФЕСОР ОМ</a:t>
            </a:r>
            <a:endParaRPr lang="en-US" sz="1200" dirty="0"/>
          </a:p>
        </p:txBody>
      </p:sp>
      <p:pic>
        <p:nvPicPr>
          <p:cNvPr id="26" name="Image 2" descr="Професор Ом — чарівник-наставник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53700" y="5073650"/>
            <a:ext cx="825500" cy="1073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4150" y="184150"/>
            <a:ext cx="11823700" cy="6489700"/>
          </a:xfrm>
          <a:prstGeom prst="rect">
            <a:avLst/>
          </a:prstGeom>
          <a:noFill/>
          <a:ln w="12700">
            <a:solidFill>
              <a:srgbClr val="8A734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2575" y="282575"/>
            <a:ext cx="11626850" cy="629285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696968" y="711200"/>
            <a:ext cx="27980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VII · ТЕОРІЯ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1190625" y="1013461"/>
            <a:ext cx="981075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0" i="1" spc="50" kern="0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UART: команда — ще не звук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8006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pic>
        <p:nvPicPr>
          <p:cNvPr id="8" name="Image 1" descr="diamo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1549400"/>
            <a:ext cx="101600" cy="10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4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sp>
        <p:nvSpPr>
          <p:cNvPr id="10" name="Shape 6"/>
          <p:cNvSpPr/>
          <p:nvPr/>
        </p:nvSpPr>
        <p:spPr>
          <a:xfrm>
            <a:off x="831850" y="2487296"/>
            <a:ext cx="5118100" cy="175006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51560" y="2668907"/>
            <a:ext cx="48190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i="1" dirty="0">
                <a:solidFill>
                  <a:srgbClr val="7A1F1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Що везе UART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136142" y="2988946"/>
            <a:ext cx="472683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TX одного → RX іншого, навхрест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Arduino: </a:t>
            </a:r>
            <a:r>
              <a:rPr lang="en-US" sz="1400" b="1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D10</a:t>
            </a: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 = RX, </a:t>
            </a:r>
            <a:r>
              <a:rPr lang="en-US" sz="1400" b="1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D11</a:t>
            </a: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 = TX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Швидкість: </a:t>
            </a:r>
            <a:r>
              <a:rPr lang="en-US" sz="1400" b="1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9600 бод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Лише команди й відповіді, не музику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42050" y="2487296"/>
            <a:ext cx="5118100" cy="175006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461760" y="2668907"/>
            <a:ext cx="48190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i="1" dirty="0">
                <a:solidFill>
                  <a:srgbClr val="7A1F1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Як довести, що грає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52573" y="2988946"/>
            <a:ext cx="472060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187" indent="-163187">
              <a:lnSpc>
                <a:spcPts val="210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Модуль </a:t>
            </a:r>
            <a:r>
              <a:rPr lang="en-US" sz="1400" b="1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відповів</a:t>
            </a: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 на запуск</a:t>
            </a:r>
            <a:endParaRPr lang="en-US" sz="1400" dirty="0"/>
          </a:p>
          <a:p>
            <a:pPr algn="l" marL="163187" indent="-163187">
              <a:lnSpc>
                <a:spcPts val="2100"/>
              </a:lnSpc>
              <a:buSzPct val="100000"/>
              <a:buFontTx/>
              <a:buAutoNum type="arabicPeriod" startAt="1"/>
            </a:pPr>
            <a:r>
              <a:rPr lang="en-US" sz="1400" b="1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BUSY → D7</a:t>
            </a: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 стала LOW</a:t>
            </a:r>
            <a:endParaRPr lang="en-US" sz="1400" dirty="0"/>
          </a:p>
          <a:p>
            <a:pPr algn="l" marL="163187" indent="-163187">
              <a:lnSpc>
                <a:spcPts val="210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Ми </a:t>
            </a:r>
            <a:r>
              <a:rPr lang="en-US" sz="1400" b="1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чуємо</a:t>
            </a: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 звук у динаміку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31850" y="5379721"/>
            <a:ext cx="9550400" cy="74803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1051560" y="5512436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0"/>
                </a:moveTo>
                <a:lnTo>
                  <a:pt x="241300" y="0"/>
                </a:lnTo>
                <a:arcTo hR="241300" wR="241300" stAng="16200000" swAng="5400000"/>
                <a:lnTo>
                  <a:pt x="482600" y="241300"/>
                </a:lnTo>
                <a:arcTo hR="241300" wR="241300" stAng="0" swAng="5400000"/>
                <a:lnTo>
                  <a:pt x="241300" y="482600"/>
                </a:lnTo>
                <a:arcTo hR="241300" wR="241300" stAng="5400000" swAng="5400000"/>
                <a:lnTo>
                  <a:pt x="0" y="241300"/>
                </a:lnTo>
                <a:arcTo hR="241300" wR="241300" stAng="10800000" swAng="5400000"/>
                <a:close/>
              </a:path>
            </a:pathLst>
          </a:custGeom>
          <a:solidFill>
            <a:srgbClr val="7A1F1F"/>
          </a:solidFill>
          <a:ln w="25400">
            <a:solidFill>
              <a:srgbClr val="4A1010"/>
            </a:solidFill>
            <a:prstDash val="solid"/>
          </a:ln>
          <a:effectLst>
            <a:outerShdw sx="100000" sy="100000" kx="0" ky="0" algn="bl" rotWithShape="0" blurRad="0" dist="25400" dir="5400000">
              <a:srgbClr val="2A0808">
                <a:alpha val="100000"/>
              </a:srgbClr>
            </a:outerShdw>
          </a:effectLst>
        </p:spPr>
        <p:txBody>
          <a:bodyPr wrap="square" lIns="0" tIns="1270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500" b="1" i="1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Ом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711960" y="5497832"/>
            <a:ext cx="871717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1D0E"/>
                </a:solidFill>
                <a:latin typeface="Marck Script" pitchFamily="18" charset="0"/>
                <a:ea typeface="Marck Script" pitchFamily="18" charset="-122"/>
                <a:cs typeface="Marck Script" pitchFamily="18" charset="-120"/>
              </a:rPr>
              <a:t>play(1) — лише прохання. Я повірю у «ГРАЄ» тільки тоді, коли BUSY стане LOW.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711960" y="5796282"/>
            <a:ext cx="87171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ПРОФЕСОР ОМ</a:t>
            </a:r>
            <a:endParaRPr lang="en-US" sz="1200" dirty="0"/>
          </a:p>
        </p:txBody>
      </p:sp>
      <p:pic>
        <p:nvPicPr>
          <p:cNvPr id="20" name="Image 2" descr="Професор Ом — чарівник-наставник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53700" y="5073650"/>
            <a:ext cx="825500" cy="1073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4150" y="184150"/>
            <a:ext cx="11823700" cy="6489700"/>
          </a:xfrm>
          <a:prstGeom prst="rect">
            <a:avLst/>
          </a:prstGeom>
          <a:noFill/>
          <a:ln w="12700">
            <a:solidFill>
              <a:srgbClr val="8A734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2575" y="282575"/>
            <a:ext cx="11626850" cy="629285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463796" y="711200"/>
            <a:ext cx="32644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VIII · ПРАКТИКА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1190625" y="1013461"/>
            <a:ext cx="981075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0" i="1" spc="50" kern="0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Збираємо без поспіху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8006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pic>
        <p:nvPicPr>
          <p:cNvPr id="8" name="Image 1" descr="diamo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1549400"/>
            <a:ext cx="101600" cy="10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4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sp>
        <p:nvSpPr>
          <p:cNvPr id="10" name="Text 6"/>
          <p:cNvSpPr/>
          <p:nvPr/>
        </p:nvSpPr>
        <p:spPr>
          <a:xfrm>
            <a:off x="892000" y="2752725"/>
            <a:ext cx="5904278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4800" indent="-174800">
              <a:lnSpc>
                <a:spcPts val="2400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D4BF9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Перепідключаємо тільки </a:t>
            </a:r>
            <a:r>
              <a:rPr lang="en-US" sz="1500" b="1" dirty="0">
                <a:solidFill>
                  <a:srgbClr val="D4BF9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знеструмлену</a:t>
            </a:r>
            <a:r>
              <a:rPr lang="en-US" sz="1500" dirty="0">
                <a:solidFill>
                  <a:srgbClr val="D4BF9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 схему.</a:t>
            </a:r>
            <a:endParaRPr lang="en-US" sz="1500" dirty="0"/>
          </a:p>
          <a:p>
            <a:pPr algn="l" marL="174800" indent="-174800">
              <a:lnSpc>
                <a:spcPts val="2400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D4BF9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Звіряємо кожен контакт зі схемою уроку.</a:t>
            </a:r>
            <a:endParaRPr lang="en-US" sz="1500" dirty="0"/>
          </a:p>
          <a:p>
            <a:pPr algn="l" marL="174800" indent="-174800">
              <a:lnSpc>
                <a:spcPts val="2400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D4BF9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Спільний </a:t>
            </a:r>
            <a:r>
              <a:rPr lang="en-US" sz="1500" b="1" dirty="0">
                <a:solidFill>
                  <a:srgbClr val="D4BF9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GND</a:t>
            </a:r>
            <a:r>
              <a:rPr lang="en-US" sz="1500" dirty="0">
                <a:solidFill>
                  <a:srgbClr val="D4BF9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, а TX/RX навхрест.</a:t>
            </a:r>
            <a:endParaRPr lang="en-US" sz="1500" dirty="0"/>
          </a:p>
          <a:p>
            <a:pPr algn="l" marL="174800" indent="-174800">
              <a:lnSpc>
                <a:spcPts val="2400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D4BF9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Перед живленням напарник перевіряє стенд.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937375" y="2026921"/>
            <a:ext cx="4438650" cy="2670810"/>
          </a:xfrm>
          <a:prstGeom prst="rect">
            <a:avLst/>
          </a:prstGeom>
          <a:solidFill>
            <a:srgbClr val="F4EFE4"/>
          </a:solidFill>
          <a:ln w="6350">
            <a:solidFill>
              <a:srgbClr val="8A7340"/>
            </a:solidFill>
            <a:prstDash val="solid"/>
          </a:ln>
          <a:effectLst>
            <a:outerShdw sx="100000" sy="100000" kx="0" ky="0" algn="bl" rotWithShape="0" blurRad="38100" dist="0" dir="60000">
              <a:srgbClr val="1A1208">
                <a:alpha val="100000"/>
              </a:srgbClr>
            </a:outerShdw>
          </a:effectLst>
        </p:spPr>
      </p:sp>
      <p:pic>
        <p:nvPicPr>
          <p:cNvPr id="12" name="Image 2" descr="Схема підключення: Arduino Uno, DFPlayer Mini, динамік і кнопка">    </p:cNvPr>
          <p:cNvPicPr>
            <a:picLocks noChangeAspect="1"/>
          </p:cNvPicPr>
          <p:nvPr/>
        </p:nvPicPr>
        <p:blipFill>
          <a:blip r:embed="rId3"/>
          <a:srcRect l="0" r="0" t="-72" b="-72"/>
          <a:stretch/>
        </p:blipFill>
        <p:spPr>
          <a:xfrm>
            <a:off x="7040880" y="2130425"/>
            <a:ext cx="4231640" cy="24638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31850" y="5093971"/>
            <a:ext cx="9550400" cy="103378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1051560" y="5369564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0"/>
                </a:moveTo>
                <a:lnTo>
                  <a:pt x="241300" y="0"/>
                </a:lnTo>
                <a:arcTo hR="241300" wR="241300" stAng="16200000" swAng="5400000"/>
                <a:lnTo>
                  <a:pt x="482600" y="241300"/>
                </a:lnTo>
                <a:arcTo hR="241300" wR="241300" stAng="0" swAng="5400000"/>
                <a:lnTo>
                  <a:pt x="241300" y="482600"/>
                </a:lnTo>
                <a:arcTo hR="241300" wR="241300" stAng="5400000" swAng="5400000"/>
                <a:lnTo>
                  <a:pt x="0" y="241300"/>
                </a:lnTo>
                <a:arcTo hR="241300" wR="241300" stAng="10800000" swAng="5400000"/>
                <a:close/>
              </a:path>
            </a:pathLst>
          </a:custGeom>
          <a:solidFill>
            <a:srgbClr val="7A1F1F"/>
          </a:solidFill>
          <a:ln w="25400">
            <a:solidFill>
              <a:srgbClr val="4A1010"/>
            </a:solidFill>
            <a:prstDash val="solid"/>
          </a:ln>
          <a:effectLst>
            <a:outerShdw sx="100000" sy="100000" kx="0" ky="0" algn="bl" rotWithShape="0" blurRad="0" dist="25400" dir="5400000">
              <a:srgbClr val="2A0808">
                <a:alpha val="100000"/>
              </a:srgbClr>
            </a:outerShdw>
          </a:effectLst>
        </p:spPr>
        <p:txBody>
          <a:bodyPr wrap="square" lIns="0" tIns="1270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500" b="1" i="1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Ом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711960" y="5212079"/>
            <a:ext cx="871717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1D0E"/>
                </a:solidFill>
                <a:latin typeface="Marck Script" pitchFamily="18" charset="0"/>
                <a:ea typeface="Marck Script" pitchFamily="18" charset="-122"/>
                <a:cs typeface="Marck Script" pitchFamily="18" charset="-120"/>
              </a:rPr>
              <a:t>Чарівник, що поспішає, палить плати. Сумніваєтесь у компоненті чи напрузі — зупиніться й покличте викладача.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711960" y="5796279"/>
            <a:ext cx="87171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ПРОФЕСОР ОМ</a:t>
            </a:r>
            <a:endParaRPr lang="en-US" sz="1200" dirty="0"/>
          </a:p>
        </p:txBody>
      </p:sp>
      <p:pic>
        <p:nvPicPr>
          <p:cNvPr id="17" name="Image 3" descr="Професор Ом — чарівник-наставник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553700" y="5073650"/>
            <a:ext cx="825500" cy="1073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4150" y="184150"/>
            <a:ext cx="11823700" cy="6489700"/>
          </a:xfrm>
          <a:prstGeom prst="rect">
            <a:avLst/>
          </a:prstGeom>
          <a:noFill/>
          <a:ln w="12700">
            <a:solidFill>
              <a:srgbClr val="8A734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2575" y="282575"/>
            <a:ext cx="11626850" cy="629285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19728" y="711200"/>
            <a:ext cx="43525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IX · КОД І ЕКСПЕРИМЕНТ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1190625" y="1013464"/>
            <a:ext cx="981075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0" i="1" spc="50" kern="0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Прочитай код, запусти, запиши факти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8006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pic>
        <p:nvPicPr>
          <p:cNvPr id="8" name="Image 1" descr="diamo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1549400"/>
            <a:ext cx="101600" cy="10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4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sp>
        <p:nvSpPr>
          <p:cNvPr id="10" name="Shape 6"/>
          <p:cNvSpPr/>
          <p:nvPr/>
        </p:nvSpPr>
        <p:spPr>
          <a:xfrm>
            <a:off x="815975" y="2393950"/>
            <a:ext cx="4565650" cy="1936750"/>
          </a:xfrm>
          <a:prstGeom prst="rect">
            <a:avLst/>
          </a:prstGeom>
          <a:solidFill>
            <a:srgbClr val="0E0A05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38100" dist="0" dir="60000">
              <a:srgbClr val="1A1208">
                <a:alpha val="10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21080" y="2573654"/>
            <a:ext cx="4280103" cy="1000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uint8_t PIN_MP3_RX = 10;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uint8_t PIN_MP3_TX = 11;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uint8_t PIN_MP3_BUSY = 7;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uint8_t PIN_BUTTON = 2;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21080" y="3663317"/>
            <a:ext cx="4280103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FE3C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player.begin(mp3Serial, true, true)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FE3C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player.play(TRACK_NUMBER);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38800" y="2390775"/>
            <a:ext cx="5740400" cy="1691640"/>
          </a:xfrm>
          <a:prstGeom prst="rect">
            <a:avLst/>
          </a:prstGeom>
          <a:solidFill>
            <a:srgbClr val="E8D9B5"/>
          </a:solidFill>
          <a:ln/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1360150" y="2390775"/>
            <a:ext cx="0" cy="1691640"/>
          </a:xfrm>
          <a:prstGeom prst="line">
            <a:avLst/>
          </a:prstGeom>
          <a:noFill/>
          <a:ln w="38100">
            <a:solidFill>
              <a:srgbClr val="8A73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38800" y="4063365"/>
            <a:ext cx="5740400" cy="0"/>
          </a:xfrm>
          <a:prstGeom prst="line">
            <a:avLst/>
          </a:prstGeom>
          <a:noFill/>
          <a:ln w="38100">
            <a:solidFill>
              <a:srgbClr val="8A734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48960" y="2400935"/>
          <a:ext cx="5694680" cy="1645920"/>
        </p:xfrm>
        <a:graphic>
          <a:graphicData uri="http://schemas.openxmlformats.org/drawingml/2006/table">
            <a:tbl>
              <a:tblPr/>
              <a:tblGrid>
                <a:gridCol w="1822298"/>
                <a:gridCol w="2391766"/>
                <a:gridCol w="148061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8D9B5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Джерело</a:t>
                      </a:r>
                      <a:endParaRPr lang="en-US" sz="14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8D9B5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Перевіряємо</a:t>
                      </a:r>
                      <a:endParaRPr lang="en-US" sz="14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8D9B5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Побачили?</a:t>
                      </a:r>
                      <a:endParaRPr lang="en-US" sz="14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Serial Monitor</a:t>
                      </a:r>
                      <a:endParaRPr lang="en-US" sz="14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модуль, файл, повідомлення</a:t>
                      </a:r>
                      <a:endParaRPr lang="en-US" sz="14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4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BUSY (D7)</a:t>
                      </a:r>
                      <a:endParaRPr lang="en-US" sz="14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LOW під час звуку?</a:t>
                      </a:r>
                      <a:endParaRPr lang="en-US" sz="14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Динамік</a:t>
                      </a:r>
                      <a:endParaRPr lang="en-US" sz="14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1D0E"/>
                          </a:solidFill>
                          <a:latin typeface="EB Garamond" pitchFamily="18" charset="0"/>
                          <a:ea typeface="EB Garamond" pitchFamily="18" charset="-122"/>
                          <a:cs typeface="EB Garamond" pitchFamily="18" charset="-120"/>
                        </a:rPr>
                        <a:t>звук чути?</a:t>
                      </a:r>
                      <a:endParaRPr lang="en-US" sz="14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EB Garamond" charset="0"/>
                        <a:ea typeface="EB Garamond" charset="0"/>
                        <a:cs typeface="EB Garamond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831850" y="5093971"/>
            <a:ext cx="9550400" cy="103378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1051560" y="5369564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0"/>
                </a:moveTo>
                <a:lnTo>
                  <a:pt x="241300" y="0"/>
                </a:lnTo>
                <a:arcTo hR="241300" wR="241300" stAng="16200000" swAng="5400000"/>
                <a:lnTo>
                  <a:pt x="482600" y="241300"/>
                </a:lnTo>
                <a:arcTo hR="241300" wR="241300" stAng="0" swAng="5400000"/>
                <a:lnTo>
                  <a:pt x="241300" y="482600"/>
                </a:lnTo>
                <a:arcTo hR="241300" wR="241300" stAng="5400000" swAng="5400000"/>
                <a:lnTo>
                  <a:pt x="0" y="241300"/>
                </a:lnTo>
                <a:arcTo hR="241300" wR="241300" stAng="10800000" swAng="5400000"/>
                <a:close/>
              </a:path>
            </a:pathLst>
          </a:custGeom>
          <a:solidFill>
            <a:srgbClr val="7A1F1F"/>
          </a:solidFill>
          <a:ln w="25400">
            <a:solidFill>
              <a:srgbClr val="4A1010"/>
            </a:solidFill>
            <a:prstDash val="solid"/>
          </a:ln>
          <a:effectLst>
            <a:outerShdw sx="100000" sy="100000" kx="0" ky="0" algn="bl" rotWithShape="0" blurRad="0" dist="25400" dir="5400000">
              <a:srgbClr val="2A0808">
                <a:alpha val="100000"/>
              </a:srgbClr>
            </a:outerShdw>
          </a:effectLst>
        </p:spPr>
        <p:txBody>
          <a:bodyPr wrap="square" lIns="0" tIns="1270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500" b="1" i="1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Ом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711960" y="5212079"/>
            <a:ext cx="871717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1D0E"/>
                </a:solidFill>
                <a:latin typeface="Marck Script" pitchFamily="18" charset="0"/>
                <a:ea typeface="Marck Script" pitchFamily="18" charset="-122"/>
                <a:cs typeface="Marck Script" pitchFamily="18" charset="-120"/>
              </a:rPr>
              <a:t>Перш ніж вимовити закляття, прочитайте його до кінця й передбачте вивід. Пам'ятайте: скетч завантажився — ще не означає, що звук доведено.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711960" y="5796279"/>
            <a:ext cx="87171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ПРОФЕСОР ОМ</a:t>
            </a:r>
            <a:endParaRPr lang="en-US" sz="1200" dirty="0"/>
          </a:p>
        </p:txBody>
      </p:sp>
      <p:pic>
        <p:nvPicPr>
          <p:cNvPr id="21" name="Image 2" descr="Професор Ом — чарівник-наставник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53700" y="5073650"/>
            <a:ext cx="825500" cy="1073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4150" y="184150"/>
            <a:ext cx="11823700" cy="6489700"/>
          </a:xfrm>
          <a:prstGeom prst="rect">
            <a:avLst/>
          </a:prstGeom>
          <a:noFill/>
          <a:ln w="12700">
            <a:solidFill>
              <a:srgbClr val="8A734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2575" y="282575"/>
            <a:ext cx="11626850" cy="629285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97680" y="711200"/>
            <a:ext cx="35966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spc="4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X · ДОСЯГНЕННЯ</a:t>
            </a:r>
            <a:endParaRPr lang="en-US" sz="13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1517650" y="1094742"/>
            <a:ext cx="9156700" cy="145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616"/>
              </a:lnSpc>
              <a:buNone/>
            </a:pPr>
            <a:r>
              <a:rPr lang="en-US" sz="5200" b="0" i="1" spc="100" kern="0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Ми змусили машину говорити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4800600" y="2717961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pic>
        <p:nvPicPr>
          <p:cNvPr id="8" name="Image 1" descr="diamo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2673511"/>
            <a:ext cx="101600" cy="10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400" y="2717961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sp>
        <p:nvSpPr>
          <p:cNvPr id="10" name="Text 6"/>
          <p:cNvSpPr/>
          <p:nvPr/>
        </p:nvSpPr>
        <p:spPr>
          <a:xfrm>
            <a:off x="1333500" y="2927511"/>
            <a:ext cx="9525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4BF9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Тепер кожна команда пояснює: </a:t>
            </a:r>
            <a:r>
              <a:rPr lang="en-US" sz="1800" b="1" dirty="0">
                <a:solidFill>
                  <a:srgbClr val="D4BF9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який доказ показує, що машина справді говорить?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31850" y="5093971"/>
            <a:ext cx="9423400" cy="103378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051560" y="5369564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0"/>
                </a:moveTo>
                <a:lnTo>
                  <a:pt x="241300" y="0"/>
                </a:lnTo>
                <a:arcTo hR="241300" wR="241300" stAng="16200000" swAng="5400000"/>
                <a:lnTo>
                  <a:pt x="482600" y="241300"/>
                </a:lnTo>
                <a:arcTo hR="241300" wR="241300" stAng="0" swAng="5400000"/>
                <a:lnTo>
                  <a:pt x="241300" y="482600"/>
                </a:lnTo>
                <a:arcTo hR="241300" wR="241300" stAng="5400000" swAng="5400000"/>
                <a:lnTo>
                  <a:pt x="0" y="241300"/>
                </a:lnTo>
                <a:arcTo hR="241300" wR="241300" stAng="10800000" swAng="5400000"/>
                <a:close/>
              </a:path>
            </a:pathLst>
          </a:custGeom>
          <a:solidFill>
            <a:srgbClr val="7A1F1F"/>
          </a:solidFill>
          <a:ln w="25400">
            <a:solidFill>
              <a:srgbClr val="4A1010"/>
            </a:solidFill>
            <a:prstDash val="solid"/>
          </a:ln>
          <a:effectLst>
            <a:outerShdw sx="100000" sy="100000" kx="0" ky="0" algn="bl" rotWithShape="0" blurRad="0" dist="25400" dir="5400000">
              <a:srgbClr val="2A0808">
                <a:alpha val="100000"/>
              </a:srgbClr>
            </a:outerShdw>
          </a:effectLst>
        </p:spPr>
        <p:txBody>
          <a:bodyPr wrap="square" lIns="0" tIns="1270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500" b="1" i="1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Ом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711960" y="5212079"/>
            <a:ext cx="858636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1D0E"/>
                </a:solidFill>
                <a:latin typeface="Marck Script" pitchFamily="18" charset="0"/>
                <a:ea typeface="Marck Script" pitchFamily="18" charset="-122"/>
                <a:cs typeface="Marck Script" pitchFamily="18" charset="-120"/>
              </a:rPr>
              <a:t>Закляття спрацювало. Але справжній майстер завжди має доказ: Serial Monitor, BUSY = LOW і звук.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711960" y="5796279"/>
            <a:ext cx="85863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ПРОФЕСОР ОМ</a:t>
            </a:r>
            <a:endParaRPr lang="en-US" sz="1200" dirty="0"/>
          </a:p>
        </p:txBody>
      </p:sp>
      <p:pic>
        <p:nvPicPr>
          <p:cNvPr id="15" name="Image 2" descr="Професор Ом — чарівник-наставник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26700" y="4908550"/>
            <a:ext cx="95250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4150" y="184150"/>
            <a:ext cx="11823700" cy="6489700"/>
          </a:xfrm>
          <a:prstGeom prst="rect">
            <a:avLst/>
          </a:prstGeom>
          <a:noFill/>
          <a:ln w="12700">
            <a:solidFill>
              <a:srgbClr val="8A734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2575" y="282575"/>
            <a:ext cx="11626850" cy="629285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52900" y="711200"/>
            <a:ext cx="388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XI · НАСТУПНІ РІВНІ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1190625" y="1013464"/>
            <a:ext cx="981075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0" i="1" spc="50" kern="0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Чого ще бракує плеєру?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8006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pic>
        <p:nvPicPr>
          <p:cNvPr id="8" name="Image 1" descr="diamo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1549400"/>
            <a:ext cx="101600" cy="10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400" y="1593850"/>
            <a:ext cx="1143000" cy="12700"/>
          </a:xfrm>
          <a:prstGeom prst="rect">
            <a:avLst/>
          </a:prstGeom>
          <a:solidFill>
            <a:srgbClr val="8A7340"/>
          </a:solidFill>
          <a:ln/>
        </p:spPr>
      </p:sp>
      <p:sp>
        <p:nvSpPr>
          <p:cNvPr id="10" name="Text 6"/>
          <p:cNvSpPr/>
          <p:nvPr/>
        </p:nvSpPr>
        <p:spPr>
          <a:xfrm>
            <a:off x="815975" y="2181864"/>
            <a:ext cx="1263650" cy="36957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  <p:txBody>
          <a:bodyPr wrap="square" lIns="0" tIns="78105" rIns="0" bIns="527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II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222500" y="2174875"/>
            <a:ext cx="9144000" cy="383540"/>
          </a:xfrm>
          <a:prstGeom prst="rect">
            <a:avLst/>
          </a:prstGeom>
          <a:solidFill>
            <a:srgbClr val="E8D9B5"/>
          </a:solidFill>
          <a:ln w="25400">
            <a:solidFill>
              <a:srgbClr val="8A7340"/>
            </a:solidFill>
            <a:prstDash val="solid"/>
          </a:ln>
        </p:spPr>
        <p:txBody>
          <a:bodyPr wrap="square" lIns="190500" tIns="76200" rIns="0" bIns="508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Як пристрій дізнається час і не забуває його після вимкнення?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15975" y="2679700"/>
            <a:ext cx="1263650" cy="36957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  <p:txBody>
          <a:bodyPr wrap="square" lIns="0" tIns="78105" rIns="0" bIns="527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III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22500" y="2672717"/>
            <a:ext cx="9144000" cy="383540"/>
          </a:xfrm>
          <a:prstGeom prst="rect">
            <a:avLst/>
          </a:prstGeom>
          <a:solidFill>
            <a:srgbClr val="E8D9B5"/>
          </a:solidFill>
          <a:ln w="25400">
            <a:solidFill>
              <a:srgbClr val="8A7340"/>
            </a:solidFill>
            <a:prstDash val="solid"/>
          </a:ln>
        </p:spPr>
        <p:txBody>
          <a:bodyPr wrap="square" lIns="190500" tIns="76200" rIns="0" bIns="508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Як запустити потрібний трек рівно один раз за розкладом?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15975" y="3177542"/>
            <a:ext cx="1263650" cy="36957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  <p:txBody>
          <a:bodyPr wrap="square" lIns="0" tIns="78105" rIns="0" bIns="527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IV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222500" y="3170554"/>
            <a:ext cx="9144000" cy="383540"/>
          </a:xfrm>
          <a:prstGeom prst="rect">
            <a:avLst/>
          </a:prstGeom>
          <a:solidFill>
            <a:srgbClr val="E8D9B5"/>
          </a:solidFill>
          <a:ln w="25400">
            <a:solidFill>
              <a:srgbClr val="8A7340"/>
            </a:solidFill>
            <a:prstDash val="solid"/>
          </a:ln>
        </p:spPr>
        <p:txBody>
          <a:bodyPr wrap="square" lIns="190500" tIns="76200" rIns="0" bIns="508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Чим безпечно керувати шкільним навантаженням?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15975" y="3675379"/>
            <a:ext cx="1263650" cy="36957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  <p:txBody>
          <a:bodyPr wrap="square" lIns="0" tIns="78105" rIns="0" bIns="527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V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222500" y="3668396"/>
            <a:ext cx="9144000" cy="383540"/>
          </a:xfrm>
          <a:prstGeom prst="rect">
            <a:avLst/>
          </a:prstGeom>
          <a:solidFill>
            <a:srgbClr val="E8D9B5"/>
          </a:solidFill>
          <a:ln w="25400">
            <a:solidFill>
              <a:srgbClr val="8A7340"/>
            </a:solidFill>
            <a:prstDash val="solid"/>
          </a:ln>
        </p:spPr>
        <p:txBody>
          <a:bodyPr wrap="square" lIns="190500" tIns="76200" rIns="0" bIns="508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Що має бачити людина на екрані?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5975" y="4173221"/>
            <a:ext cx="1263650" cy="369570"/>
          </a:xfrm>
          <a:prstGeom prst="rect">
            <a:avLst/>
          </a:prstGeom>
          <a:noFill/>
          <a:ln w="6350">
            <a:solidFill>
              <a:srgbClr val="8A7340"/>
            </a:solidFill>
            <a:prstDash val="solid"/>
          </a:ln>
        </p:spPr>
        <p:txBody>
          <a:bodyPr wrap="square" lIns="0" tIns="78105" rIns="0" bIns="527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C9A8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ГЛАВА VI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222500" y="4166239"/>
            <a:ext cx="9144000" cy="383540"/>
          </a:xfrm>
          <a:prstGeom prst="rect">
            <a:avLst/>
          </a:prstGeom>
          <a:solidFill>
            <a:srgbClr val="E8D9B5"/>
          </a:solidFill>
          <a:ln w="25400">
            <a:solidFill>
              <a:srgbClr val="8A7340"/>
            </a:solidFill>
            <a:prstDash val="solid"/>
          </a:ln>
        </p:spPr>
        <p:txBody>
          <a:bodyPr wrap="square" lIns="190500" tIns="76200" rIns="0" bIns="508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B1D0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Як система повідомляє про помилку й відновлюється?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31850" y="5379721"/>
            <a:ext cx="9550400" cy="748030"/>
          </a:xfrm>
          <a:prstGeom prst="rect">
            <a:avLst/>
          </a:prstGeom>
          <a:solidFill>
            <a:srgbClr val="E8D9B5"/>
          </a:solidFill>
          <a:ln w="38100">
            <a:solidFill>
              <a:srgbClr val="8A734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1051560" y="5512439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0"/>
                </a:moveTo>
                <a:lnTo>
                  <a:pt x="241300" y="0"/>
                </a:lnTo>
                <a:arcTo hR="241300" wR="241300" stAng="16200000" swAng="5400000"/>
                <a:lnTo>
                  <a:pt x="482600" y="241300"/>
                </a:lnTo>
                <a:arcTo hR="241300" wR="241300" stAng="0" swAng="5400000"/>
                <a:lnTo>
                  <a:pt x="241300" y="482600"/>
                </a:lnTo>
                <a:arcTo hR="241300" wR="241300" stAng="5400000" swAng="5400000"/>
                <a:lnTo>
                  <a:pt x="0" y="241300"/>
                </a:lnTo>
                <a:arcTo hR="241300" wR="241300" stAng="10800000" swAng="5400000"/>
                <a:close/>
              </a:path>
            </a:pathLst>
          </a:custGeom>
          <a:solidFill>
            <a:srgbClr val="7A1F1F"/>
          </a:solidFill>
          <a:ln w="25400">
            <a:solidFill>
              <a:srgbClr val="4A1010"/>
            </a:solidFill>
            <a:prstDash val="solid"/>
          </a:ln>
          <a:effectLst>
            <a:outerShdw sx="100000" sy="100000" kx="0" ky="0" algn="bl" rotWithShape="0" blurRad="0" dist="25400" dir="5400000">
              <a:srgbClr val="2A0808">
                <a:alpha val="100000"/>
              </a:srgbClr>
            </a:outerShdw>
          </a:effectLst>
        </p:spPr>
        <p:txBody>
          <a:bodyPr wrap="square" lIns="0" tIns="1270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500" b="1" i="1" dirty="0">
                <a:solidFill>
                  <a:srgbClr val="C9A84C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Ом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711960" y="5497829"/>
            <a:ext cx="871717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1D0E"/>
                </a:solidFill>
                <a:latin typeface="Marck Script" pitchFamily="18" charset="0"/>
                <a:ea typeface="Marck Script" pitchFamily="18" charset="-122"/>
                <a:cs typeface="Marck Script" pitchFamily="18" charset="-120"/>
              </a:rPr>
              <a:t>Кожне питання — нове закляття. Модулі для них ми ще оберемо разом.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711960" y="5796279"/>
            <a:ext cx="87171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7A1F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ПРОФЕСОР ОМ</a:t>
            </a:r>
            <a:endParaRPr lang="en-US" sz="1200" dirty="0"/>
          </a:p>
        </p:txBody>
      </p:sp>
      <p:pic>
        <p:nvPicPr>
          <p:cNvPr id="24" name="Image 2" descr="Професор Ом — чарівник-наставник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53700" y="5073650"/>
            <a:ext cx="825500" cy="1073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Урок 1 — Змусь машину говорити">
  <a:themeElements>
    <a:clrScheme name="Урок 1 — Змусь машину говорити">
      <a:dk1>
        <a:srgbClr val="3A2812"/>
      </a:dk1>
      <a:lt1>
        <a:srgbClr val="FAF9F5"/>
      </a:lt1>
      <a:dk2>
        <a:srgbClr val="4D3D29"/>
      </a:dk2>
      <a:lt2>
        <a:srgbClr val="CAC5BC"/>
      </a:lt2>
      <a:accent1>
        <a:srgbClr val="C9A84C"/>
      </a:accent1>
      <a:accent2>
        <a:srgbClr val="7A1F1F"/>
      </a:accent2>
      <a:accent3>
        <a:srgbClr val="E8D9B5"/>
      </a:accent3>
      <a:accent4>
        <a:srgbClr val="8A7340"/>
      </a:accent4>
      <a:accent5>
        <a:srgbClr val="D4BF9A"/>
      </a:accent5>
      <a:accent6>
        <a:srgbClr val="EFE3C8"/>
      </a:accent6>
      <a:hlink>
        <a:srgbClr val="0563C1"/>
      </a:hlink>
      <a:folHlink>
        <a:srgbClr val="954F72"/>
      </a:folHlink>
    </a:clrScheme>
    <a:fontScheme name="Урок 1 — Змусь машину говорити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etBrains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1 — Змусь машину говорити</dc:title>
  <dc:subject/>
  <dc:creator/>
  <cp:lastModifiedBy/>
  <cp:revision>1</cp:revision>
  <dcterms:created xsi:type="dcterms:W3CDTF">2026-10-09T19:14:18Z</dcterms:created>
  <dcterms:modified xsi:type="dcterms:W3CDTF">2026-10-09T19:14:18Z</dcterms:modified>
</cp:coreProperties>
</file>