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Коротко: учні самі збирають пристрій, який щоранку вмикає шкільне озвучення. У презентації є частина для адміністрації (цілі й користь), частина для учнів (ролі та процес) і загальна (схема й принцип роботи).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Суть в одному реченні. Далі три блоки презентації: для адміністрації, для учнів і загальний.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Головна думка для адміністрації: це не просто STEM-гурток. Учні вчаться техніки і водночас вчаться вести проєкт у різних ролях. А результат школа реально використовує.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види користі: автоматизація ранкового ритуалу, живий контент, імідж сучасної школи і приклад, який можна повторити в інших класах.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 — центр усього: знає розклад, дає команду MP3-модулю грати потрібний трек і через реле вмикає підсилювач із пультом. Екран і кнопки — для ручного керування. ESP32 додамо, якщо захочемо керувати з телефону по Wi-Fi і брати точний час з інтернету.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Кожен компонент — це окрема тема для навчання. Моделі модулів ще уточнюємо.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виглядатиме робота пристрою щоранку. Порядок подій і самі треки можна змінити в налаштуваннях.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Ролі можна поєднувати або міняти протягом проєкту. Головне — спробувати себе в тому, що цікаво.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Шість етапів від ідеї до запуску. Графік зустрічей і строки заповнимо, коли затвердимо з адміністрацією.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Мотивація для учнів: знання, досвід ролі й реальний результат, яким можна пишатися.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Конкретні цифри бюджету й куратора треба узгодити. Окремо наголосити на безпеці: учні не працюють з 220 В самостійно.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Заклик приєднатися. Відповісти на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тилізована звукова хвиля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56500" y="1905000"/>
            <a:ext cx="3810000" cy="304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860550"/>
            <a:ext cx="65405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STEAM-93 · УЧНІВСЬКИЙ STEM-ПРОЄКТ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2320290"/>
            <a:ext cx="6540500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Шкільний аудіоплеєр за розкладом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12800" y="4392930"/>
            <a:ext cx="654050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Гімн України, хвилина мовчання о 9:00 і цитата дня — автоматично. Зібрано руками учнів.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A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адміністрації школи, учнів-учасників і всіх, кому цікаво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 ПРОЄКТ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ми робимо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797175"/>
            <a:ext cx="981075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Команда учнів збирає пристрій, який щоранку </a:t>
            </a:r>
            <a:r>
              <a:rPr lang="en-US" sz="2200" b="1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сам</a:t>
            </a:r>
            <a:r>
              <a:rPr lang="en-US" sz="22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вмикає гімн України та хвилину мовчання, а потім — цитату дня.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5975" y="4777105"/>
            <a:ext cx="3380264" cy="1264920"/>
          </a:xfrm>
          <a:prstGeom prst="roundRect">
            <a:avLst>
              <a:gd name="adj" fmla="val 11797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6480" y="5007610"/>
            <a:ext cx="30068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АДМІНІСТРАЦІЇ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6480" y="5297170"/>
            <a:ext cx="300683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Навіщо це школі та які головні цілі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5789" y="4777105"/>
            <a:ext cx="3380343" cy="1264920"/>
          </a:xfrm>
          <a:prstGeom prst="roundRect">
            <a:avLst>
              <a:gd name="adj" fmla="val 11797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294" y="5007610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УЧНЯМ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6294" y="5297170"/>
            <a:ext cx="30069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Які будуть ролі і як усе відбуватиметься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5682" y="4777105"/>
            <a:ext cx="3380343" cy="1264920"/>
          </a:xfrm>
          <a:prstGeom prst="roundRect">
            <a:avLst>
              <a:gd name="adj" fmla="val 11797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6187" y="5007610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УСІМ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6187" y="5297170"/>
            <a:ext cx="30069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улаштований пристрій і як він працює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АДМІНІСТРАЦІЇ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Головні цілі проєкту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54836"/>
            <a:ext cx="3380264" cy="4187190"/>
          </a:xfrm>
          <a:prstGeom prst="roundRect">
            <a:avLst>
              <a:gd name="adj" fmla="val 4415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36141"/>
            <a:ext cx="290218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903220"/>
            <a:ext cx="29021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Навчити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335020"/>
            <a:ext cx="290218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Базові поняття електроніки та програмування — не на папері, а на справжньому пристрої.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5789" y="1854836"/>
            <a:ext cx="3380343" cy="4187190"/>
          </a:xfrm>
          <a:prstGeom prst="roundRect">
            <a:avLst>
              <a:gd name="adj" fmla="val 4414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7094" y="2136141"/>
            <a:ext cx="290226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87094" y="2903220"/>
            <a:ext cx="290226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Навчити вести проєкт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87094" y="3639820"/>
            <a:ext cx="290226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Учні пробують себе як менеджер, product owner, програміст — і відповідають за результат.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95682" y="1854836"/>
            <a:ext cx="3380343" cy="4187190"/>
          </a:xfrm>
          <a:prstGeom prst="roundRect">
            <a:avLst>
              <a:gd name="adj" fmla="val 4414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6987" y="2136141"/>
            <a:ext cx="290226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76987" y="2903220"/>
            <a:ext cx="290226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Принести реальну користь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6987" y="3639820"/>
            <a:ext cx="290226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Пристрій щодня працює в школі, а не лежить на полиці після виставки.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АДМІНІСТРАЦІЇ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Користь для школи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51661"/>
            <a:ext cx="5181600" cy="1995170"/>
          </a:xfrm>
          <a:prstGeom prst="roundRect">
            <a:avLst>
              <a:gd name="adj" fmla="val 7638"/>
            </a:avLst>
          </a:prstGeom>
          <a:solidFill>
            <a:srgbClr val="1C2640"/>
          </a:solidFill>
          <a:ln/>
        </p:spPr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210566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105661"/>
            <a:ext cx="42644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Автоматизація о 9:00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443480"/>
            <a:ext cx="42644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Гімн України і хвилина мовчання — щодня вчасно, без ручного запуску.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7600" y="1851661"/>
            <a:ext cx="5181600" cy="1995170"/>
          </a:xfrm>
          <a:prstGeom prst="roundRect">
            <a:avLst>
              <a:gd name="adj" fmla="val 7638"/>
            </a:avLst>
          </a:prstGeom>
          <a:solidFill>
            <a:srgbClr val="1C2640"/>
          </a:solidFill>
          <a:ln/>
        </p:spPr>
      </p:sp>
      <p:pic>
        <p:nvPicPr>
          <p:cNvPr id="9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1600" y="2105661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85000" y="2105661"/>
            <a:ext cx="42644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Інтерактивний контент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985000" y="2443480"/>
            <a:ext cx="42644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Цитата дня або цікава фраза — маленька традиція, яку чекають.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2800" y="4050030"/>
            <a:ext cx="5181600" cy="1995170"/>
          </a:xfrm>
          <a:prstGeom prst="roundRect">
            <a:avLst>
              <a:gd name="adj" fmla="val 7638"/>
            </a:avLst>
          </a:prstGeom>
          <a:solidFill>
            <a:srgbClr val="1C2640"/>
          </a:solidFill>
          <a:ln/>
        </p:spPr>
      </p:sp>
      <p:pic>
        <p:nvPicPr>
          <p:cNvPr id="13" name="Image 2" descr="Sta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6800" y="4304030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304030"/>
            <a:ext cx="42644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Сучасний імідж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641850"/>
            <a:ext cx="42644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Школа, де технології створюють самі учні, — це трендово.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197600" y="4050030"/>
            <a:ext cx="5181600" cy="1995170"/>
          </a:xfrm>
          <a:prstGeom prst="roundRect">
            <a:avLst>
              <a:gd name="adj" fmla="val 7638"/>
            </a:avLst>
          </a:prstGeom>
          <a:solidFill>
            <a:srgbClr val="1C2640"/>
          </a:solidFill>
          <a:ln/>
        </p:spPr>
      </p:sp>
      <p:pic>
        <p:nvPicPr>
          <p:cNvPr id="17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51600" y="4304030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85000" y="4304030"/>
            <a:ext cx="42644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Приклад для інших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985000" y="4641850"/>
            <a:ext cx="42644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зібрати команду і зробити STEM-проєкт, що реально допомагає.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ЦЕ ПРАЦЮЄ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Схема системи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325" y="1851025"/>
            <a:ext cx="1885950" cy="869950"/>
          </a:xfrm>
          <a:prstGeom prst="roundRect">
            <a:avLst>
              <a:gd name="adj" fmla="val 13504"/>
            </a:avLst>
          </a:prstGeom>
          <a:solidFill>
            <a:srgbClr val="FFFDF8"/>
          </a:solidFill>
          <a:ln w="19050">
            <a:solidFill>
              <a:srgbClr val="8F9A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80440" y="2009139"/>
            <a:ext cx="1620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Телефон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0440" y="2260600"/>
            <a:ext cx="1620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керування по Wi-Fi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325" y="3438525"/>
            <a:ext cx="1885950" cy="1060450"/>
          </a:xfrm>
          <a:prstGeom prst="roundRect">
            <a:avLst>
              <a:gd name="adj" fmla="val 11078"/>
            </a:avLst>
          </a:prstGeom>
          <a:solidFill>
            <a:srgbClr val="FFFDF8"/>
          </a:solidFill>
          <a:ln w="19050">
            <a:solidFill>
              <a:srgbClr val="8F9AB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80440" y="3596639"/>
            <a:ext cx="16205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ESP32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0440" y="3848100"/>
            <a:ext cx="16205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опційно: Wi-Fi та точний час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43350" y="1784350"/>
            <a:ext cx="2400300" cy="876300"/>
          </a:xfrm>
          <a:prstGeom prst="roundRect">
            <a:avLst>
              <a:gd name="adj" fmla="val 13768"/>
            </a:avLst>
          </a:prstGeom>
          <a:solidFill>
            <a:srgbClr val="FFFDF8"/>
          </a:solidFill>
          <a:ln w="12700">
            <a:solidFill>
              <a:srgbClr val="C9CF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9560" y="1940561"/>
            <a:ext cx="21505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Екран + кнопки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99560" y="2192021"/>
            <a:ext cx="21505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меню й ручний запуск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7000" y="3111500"/>
            <a:ext cx="2413000" cy="1270000"/>
          </a:xfrm>
          <a:prstGeom prst="roundRect">
            <a:avLst>
              <a:gd name="adj" fmla="val 12000"/>
            </a:avLst>
          </a:prstGeom>
          <a:solidFill>
            <a:srgbClr val="2F5BD3"/>
          </a:solidFill>
          <a:ln/>
          <a:effectLst>
            <a:outerShdw sx="100000" sy="100000" kx="0" ky="0" algn="bl" rotWithShape="0" blurRad="254000" dist="101600" dir="5400000">
              <a:srgbClr val="2F5BD3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40200" y="3324225"/>
            <a:ext cx="206679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DF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Arduino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40200" y="3723007"/>
            <a:ext cx="2066798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3E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мозок: розклад і вся логіка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8350" y="1784350"/>
            <a:ext cx="1892300" cy="876300"/>
          </a:xfrm>
          <a:prstGeom prst="roundRect">
            <a:avLst>
              <a:gd name="adj" fmla="val 13768"/>
            </a:avLst>
          </a:prstGeom>
          <a:solidFill>
            <a:srgbClr val="FFFDF8"/>
          </a:solidFill>
          <a:ln w="12700">
            <a:solidFill>
              <a:srgbClr val="C9CF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4560" y="1940561"/>
            <a:ext cx="1630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MP3-модуль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74560" y="2192021"/>
            <a:ext cx="1630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треки на microSD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18350" y="3435350"/>
            <a:ext cx="1892300" cy="1066800"/>
          </a:xfrm>
          <a:prstGeom prst="roundRect">
            <a:avLst>
              <a:gd name="adj" fmla="val 11310"/>
            </a:avLst>
          </a:prstGeom>
          <a:solidFill>
            <a:srgbClr val="FFFDF8"/>
          </a:solidFill>
          <a:ln w="12700">
            <a:solidFill>
              <a:srgbClr val="C9CF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4560" y="3591561"/>
            <a:ext cx="1630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Реле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74560" y="3843021"/>
            <a:ext cx="163068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вмикає живлення техніки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52000" y="2476500"/>
            <a:ext cx="1727200" cy="1333500"/>
          </a:xfrm>
          <a:prstGeom prst="roundRect">
            <a:avLst>
              <a:gd name="adj" fmla="val 9524"/>
            </a:avLst>
          </a:prstGeom>
          <a:solidFill>
            <a:srgbClr val="F4C542"/>
          </a:solidFill>
          <a:ln/>
        </p:spPr>
      </p:sp>
      <p:sp>
        <p:nvSpPr>
          <p:cNvPr id="23" name="Text 21"/>
          <p:cNvSpPr/>
          <p:nvPr/>
        </p:nvSpPr>
        <p:spPr>
          <a:xfrm>
            <a:off x="9804400" y="2922271"/>
            <a:ext cx="14732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Підсилювач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04400" y="3158489"/>
            <a:ext cx="14732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і шкільний пульт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58350" y="4641850"/>
            <a:ext cx="1714500" cy="812800"/>
          </a:xfrm>
          <a:prstGeom prst="roundRect">
            <a:avLst>
              <a:gd name="adj" fmla="val 14844"/>
            </a:avLst>
          </a:prstGeom>
          <a:solidFill>
            <a:srgbClr val="FFFDF8"/>
          </a:solidFill>
          <a:ln w="12700">
            <a:solidFill>
              <a:srgbClr val="C9CF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14560" y="4798061"/>
            <a:ext cx="145288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Динаміки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14560" y="5034282"/>
            <a:ext cx="14528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всій школі</a:t>
            </a:r>
            <a:endParaRPr lang="en-US" sz="1200" dirty="0"/>
          </a:p>
        </p:txBody>
      </p:sp>
      <p:pic>
        <p:nvPicPr>
          <p:cNvPr id="2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01800" y="2667000"/>
            <a:ext cx="127000" cy="825500"/>
          </a:xfrm>
          <a:prstGeom prst="rect">
            <a:avLst/>
          </a:prstGeom>
        </p:spPr>
      </p:pic>
      <p:pic>
        <p:nvPicPr>
          <p:cNvPr id="2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54300" y="3841750"/>
            <a:ext cx="1346200" cy="127000"/>
          </a:xfrm>
          <a:prstGeom prst="rect">
            <a:avLst/>
          </a:prstGeom>
        </p:spPr>
      </p:pic>
      <p:pic>
        <p:nvPicPr>
          <p:cNvPr id="30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0000" y="2603500"/>
            <a:ext cx="127000" cy="571500"/>
          </a:xfrm>
          <a:prstGeom prst="rect">
            <a:avLst/>
          </a:prstGeom>
        </p:spPr>
      </p:pic>
      <p:pic>
        <p:nvPicPr>
          <p:cNvPr id="31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86500" y="2603500"/>
            <a:ext cx="1841500" cy="825500"/>
          </a:xfrm>
          <a:prstGeom prst="rect">
            <a:avLst/>
          </a:prstGeom>
        </p:spPr>
      </p:pic>
      <p:pic>
        <p:nvPicPr>
          <p:cNvPr id="32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86500" y="3905250"/>
            <a:ext cx="889000" cy="127000"/>
          </a:xfrm>
          <a:prstGeom prst="rect">
            <a:avLst/>
          </a:prstGeom>
        </p:spPr>
      </p:pic>
      <p:pic>
        <p:nvPicPr>
          <p:cNvPr id="33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53500" y="2159000"/>
            <a:ext cx="1625600" cy="381000"/>
          </a:xfrm>
          <a:prstGeom prst="rect">
            <a:avLst/>
          </a:prstGeom>
        </p:spPr>
      </p:pic>
      <p:pic>
        <p:nvPicPr>
          <p:cNvPr id="34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953500" y="3556000"/>
            <a:ext cx="762000" cy="127000"/>
          </a:xfrm>
          <a:prstGeom prst="rect">
            <a:avLst/>
          </a:prstGeom>
        </p:spPr>
      </p:pic>
      <p:pic>
        <p:nvPicPr>
          <p:cNvPr id="35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452100" y="3746500"/>
            <a:ext cx="127000" cy="9525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879600" y="2959100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A74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Wi-Fi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6502400" y="30861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A6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команди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9182100" y="1905000"/>
            <a:ext cx="1003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аудіо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9067800" y="3708400"/>
            <a:ext cx="63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220 В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812800" y="56515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Пунктир — опційні частини. Точний час: RTC-модуль або інтернет-час через ESP32 — остаточно вирішимо на етапі вибору компонентів.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ЦЕ ПРАЦЮЄ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використовуємо і навіщо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61821"/>
          <a:ext cx="10556240" cy="2684780"/>
        </p:xfrm>
        <a:graphic>
          <a:graphicData uri="http://schemas.openxmlformats.org/drawingml/2006/table">
            <a:tbl>
              <a:tblPr/>
              <a:tblGrid>
                <a:gridCol w="2744622"/>
                <a:gridCol w="4011371"/>
                <a:gridCol w="3800246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Компонент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Що робить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Чого навчимось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8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Arduino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Зберігає розклад, керує всім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Програмування, логіка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6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MP3-модуль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Грає треки з карти microSD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Звук, обмін командами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Екран + кнопки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Показує стан, дає ручне керування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Інтерфейс користувача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Реле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Вмикає підсилювач і пульт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Керування живленням, безпека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Підсилювач і пульт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Вже є в школі — робить звук гучним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Як улаштоване озвучення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ESP32 (опційно)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Wi-Fi: телефон і точний час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1B2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Мережі, інтернет речей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ЯК ЦЕ ПРАЦЮЄ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Звичайний шкільний ранок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840989"/>
            <a:ext cx="24892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3060700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08:59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3660139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Техніка прокидається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005582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Реле вмикає підсилювач і пульт.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5200" y="2840989"/>
            <a:ext cx="24892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5200" y="3060700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09:00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05200" y="3660139"/>
            <a:ext cx="256387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Гімн і хвилина мовчання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05200" y="4249421"/>
            <a:ext cx="2563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Автоматично, щодня вчасно.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7600" y="2840989"/>
            <a:ext cx="24892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7600" y="3060700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Далі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97600" y="3660139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Цитата дня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7600" y="4005582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Коротка цитата або цікава фраза для настрою.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90000" y="2840989"/>
            <a:ext cx="2489200" cy="0"/>
          </a:xfrm>
          <a:prstGeom prst="line">
            <a:avLst/>
          </a:prstGeom>
          <a:noFill/>
          <a:ln w="38100">
            <a:solidFill>
              <a:srgbClr val="F4C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0000" y="3060700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Кінець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890000" y="3660139"/>
            <a:ext cx="256387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Тиша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0" y="4005582"/>
            <a:ext cx="25638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Реле вимикає техніку до наступної події.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Час, треки й порядок налаштовуються з екрана — або з телефону, якщо додамо ESP32.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УЧНІВ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Обери свою роль у команді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578736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5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809239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3190239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 проєкту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6480" y="3525521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Планує, стежить за строками, збирає команду.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7375" y="2578736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9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7880" y="2809239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7880" y="3190239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Owner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27880" y="3525521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Вирішує, що має вміти пристрій і що важливіше.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78775" y="2578736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13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9280" y="2809239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09280" y="3190239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Програміст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09280" y="3525521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Пише код для Arduino: розклад, меню, звук.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4402454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17" name="Image 3" descr="Wren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6480" y="4632964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6480" y="501396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Інженер-електронік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046480" y="5349242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Збирає схему, паяє, підключає модулі.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97375" y="4402454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21" name="Image 4" descr="Sear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7880" y="4632964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27880" y="501396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Тестувальник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627880" y="5349242"/>
            <a:ext cx="30243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Шукає баги, перевіряє, що все грає вчасно.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78775" y="4402454"/>
            <a:ext cx="3397250" cy="1639570"/>
          </a:xfrm>
          <a:prstGeom prst="roundRect">
            <a:avLst>
              <a:gd name="adj" fmla="val 9101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pic>
        <p:nvPicPr>
          <p:cNvPr id="25" name="Image 5" descr="Cha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09280" y="4632964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09280" y="5013964"/>
            <a:ext cx="30243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Контент-автор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8209280" y="5349242"/>
            <a:ext cx="30243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Добирає цитати дня й цікаві фрази.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УЧНІВ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Як це буде відбуватися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643504"/>
            <a:ext cx="3397250" cy="935990"/>
          </a:xfrm>
          <a:prstGeom prst="roundRect">
            <a:avLst>
              <a:gd name="adj" fmla="val 15943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848614"/>
            <a:ext cx="20931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1992" y="2848614"/>
            <a:ext cx="275641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Ідея і вимоги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31992" y="3143250"/>
            <a:ext cx="275641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Що має робити пристрій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7375" y="2643504"/>
            <a:ext cx="3397250" cy="935990"/>
          </a:xfrm>
          <a:prstGeom prst="roundRect">
            <a:avLst>
              <a:gd name="adj" fmla="val 15943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2480" y="2848614"/>
            <a:ext cx="3053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09436" y="2848614"/>
            <a:ext cx="265748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Вибір деталей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09436" y="3143250"/>
            <a:ext cx="26574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Модулі, бюджет, закупівля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8775" y="2643504"/>
            <a:ext cx="3397250" cy="935990"/>
          </a:xfrm>
          <a:prstGeom prst="roundRect">
            <a:avLst>
              <a:gd name="adj" fmla="val 15943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848614"/>
            <a:ext cx="30654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92027" y="2848614"/>
            <a:ext cx="265626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Збірка схеми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2027" y="3143250"/>
            <a:ext cx="265626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Макет, пайка, перевірка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763646"/>
            <a:ext cx="3397250" cy="935990"/>
          </a:xfrm>
          <a:prstGeom prst="roundRect">
            <a:avLst>
              <a:gd name="adj" fmla="val 15943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1080" y="3968750"/>
            <a:ext cx="3132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35973" y="3968750"/>
            <a:ext cx="264931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Програмування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973" y="4263392"/>
            <a:ext cx="264931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Розклад, меню, звук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97375" y="3763646"/>
            <a:ext cx="3397250" cy="935990"/>
          </a:xfrm>
          <a:prstGeom prst="roundRect">
            <a:avLst>
              <a:gd name="adj" fmla="val 15943"/>
            </a:avLst>
          </a:prstGeom>
          <a:solidFill>
            <a:srgbClr val="FFFDF8"/>
          </a:solidFill>
          <a:ln w="6350">
            <a:solidFill>
              <a:srgbClr val="E4DF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2480" y="3968750"/>
            <a:ext cx="29678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B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00863" y="3968750"/>
            <a:ext cx="26663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Тестування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00863" y="4263392"/>
            <a:ext cx="266631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Кілька днів пробного режиму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5600" y="3760471"/>
            <a:ext cx="3403600" cy="942340"/>
          </a:xfrm>
          <a:prstGeom prst="roundRect">
            <a:avLst>
              <a:gd name="adj" fmla="val 16173"/>
            </a:avLst>
          </a:prstGeom>
          <a:solidFill>
            <a:srgbClr val="2F5BD3"/>
          </a:solidFill>
          <a:ln/>
        </p:spPr>
      </p:sp>
      <p:sp>
        <p:nvSpPr>
          <p:cNvPr id="25" name="Text 23"/>
          <p:cNvSpPr/>
          <p:nvPr/>
        </p:nvSpPr>
        <p:spPr>
          <a:xfrm>
            <a:off x="8178800" y="3963671"/>
            <a:ext cx="31202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592424" y="3963671"/>
            <a:ext cx="26610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D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Запуск у школі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2424" y="4258314"/>
            <a:ext cx="26610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3E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Презентуємо результат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57962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Зустрічі: </a:t>
            </a:r>
            <a:r>
              <a:rPr lang="en-US" sz="1400" b="1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[__ раз на тиждень]</a:t>
            </a:r>
            <a:r>
              <a:rPr lang="en-US" sz="14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Тривалість: </a:t>
            </a:r>
            <a:r>
              <a:rPr lang="en-US" sz="1400" b="1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[__ тижнів]</a:t>
            </a:r>
            <a:r>
              <a:rPr lang="en-US" sz="14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Куратор: </a:t>
            </a:r>
            <a:r>
              <a:rPr lang="en-US" sz="1400" b="1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[ім’я]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УЧНІВ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ти отримаєш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51664"/>
            <a:ext cx="5181600" cy="1870710"/>
          </a:xfrm>
          <a:prstGeom prst="roundRect">
            <a:avLst>
              <a:gd name="adj" fmla="val 8147"/>
            </a:avLst>
          </a:prstGeom>
          <a:solidFill>
            <a:srgbClr val="1C264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05664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Ази електроніки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6800" y="2486664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Струм, напруга, модулі, реле — як усе з’єднується.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1851664"/>
            <a:ext cx="5181600" cy="1870710"/>
          </a:xfrm>
          <a:prstGeom prst="roundRect">
            <a:avLst>
              <a:gd name="adj" fmla="val 8147"/>
            </a:avLst>
          </a:prstGeom>
          <a:solidFill>
            <a:srgbClr val="1C2640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2105664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Ази програмування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51600" y="2486664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Код для Arduino: змінні, умови, розклад, меню.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925571"/>
            <a:ext cx="5181600" cy="2119630"/>
          </a:xfrm>
          <a:prstGeom prst="roundRect">
            <a:avLst>
              <a:gd name="adj" fmla="val 7190"/>
            </a:avLst>
          </a:prstGeom>
          <a:solidFill>
            <a:srgbClr val="1C2640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179571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Досвід справжньої ролі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66800" y="4560571"/>
            <a:ext cx="481380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Менеджер, product owner, програміст — як у реальній ІТ-команді.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7600" y="3925571"/>
            <a:ext cx="5181600" cy="2119630"/>
          </a:xfrm>
          <a:prstGeom prst="roundRect">
            <a:avLst>
              <a:gd name="adj" fmla="val 7190"/>
            </a:avLst>
          </a:prstGeom>
          <a:solidFill>
            <a:srgbClr val="1C26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4179571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C54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Результат, який чути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51600" y="4560571"/>
            <a:ext cx="481380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Твій пристрій щоранку звучить на всю школу. І це — у портфоліо.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5B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ДЛЯ АДМІНІСТРАЦІЇ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31B2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потрібно від школи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51664"/>
            <a:ext cx="6906768" cy="421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1963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Доступ до шкільного підсилювача і пульта</a:t>
            </a:r>
            <a:endParaRPr lang="en-US" sz="1600" dirty="0"/>
          </a:p>
          <a:p>
            <a:pPr algn="l" marL="243840" indent="-1963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Місце для пристрою та розетка поруч</a:t>
            </a:r>
            <a:endParaRPr lang="en-US" sz="1600" dirty="0"/>
          </a:p>
          <a:p>
            <a:pPr algn="l" marL="243840" indent="-1963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Бюджет на компоненти: </a:t>
            </a: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[≈ ₴____]</a:t>
            </a:r>
            <a:endParaRPr lang="en-US" sz="1600" dirty="0"/>
          </a:p>
          <a:p>
            <a:pPr algn="l" marL="243840" indent="-1963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Куратор від школи: </a:t>
            </a:r>
            <a:r>
              <a:rPr lang="en-US" sz="16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[ПІБ]</a:t>
            </a:r>
            <a:endParaRPr lang="en-US" sz="1600" dirty="0"/>
          </a:p>
          <a:p>
            <a:pPr algn="l" marL="243840" indent="-196342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Погодження розкладу і треків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29550" y="1858014"/>
            <a:ext cx="3543300" cy="4180840"/>
          </a:xfrm>
          <a:prstGeom prst="roundRect">
            <a:avLst>
              <a:gd name="adj" fmla="val 4122"/>
            </a:avLst>
          </a:prstGeom>
          <a:solidFill>
            <a:srgbClr val="FFF4D6"/>
          </a:solidFill>
          <a:ln w="12700">
            <a:solidFill>
              <a:srgbClr val="F4C542"/>
            </a:solidFill>
            <a:prstDash val="solid"/>
          </a:ln>
        </p:spPr>
      </p:sp>
      <p:pic>
        <p:nvPicPr>
          <p:cNvPr id="6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7360" y="2115821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87360" y="2573021"/>
            <a:ext cx="311851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B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Безпека понад усе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87360" y="2933700"/>
            <a:ext cx="3118511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Усе, що стосується мережі 220 В, підключає або перевіряє дорослий фахівець. Учні працюють з безпечною низькою напругою.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3241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F4C542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679700"/>
            <a:ext cx="9810750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Зробимо школу трохи </a:t>
            </a:r>
            <a:r>
              <a:rPr lang="en-US" sz="4400" b="1" dirty="0">
                <a:solidFill>
                  <a:srgbClr val="F4C54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розумнішою</a:t>
            </a:r>
            <a:r>
              <a:rPr lang="en-US" sz="4400" b="1" dirty="0">
                <a:solidFill>
                  <a:srgbClr val="F5F2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— разом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213864"/>
            <a:ext cx="850265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AC3D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Хочеш у команду?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F9A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STEAM-93 · УЧНІВСЬКИЙ STEM-ПРОЄКТ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STEAM-93: Шкільний аудіоплеєр</dc:title>
  <dc:subject>PptxGenJS Presentation</dc:subject>
  <dc:creator>PptxGenJS</dc:creator>
  <cp:lastModifiedBy>PptxGenJS</cp:lastModifiedBy>
  <cp:revision>1</cp:revision>
  <dcterms:created xsi:type="dcterms:W3CDTF">2026-09-29T21:48:10Z</dcterms:created>
  <dcterms:modified xsi:type="dcterms:W3CDTF">2026-09-29T21:48:10Z</dcterms:modified>
</cp:coreProperties>
</file>